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8" r:id="rId6"/>
    <p:sldId id="260" r:id="rId7"/>
    <p:sldId id="261" r:id="rId8"/>
    <p:sldId id="270" r:id="rId9"/>
    <p:sldId id="262" r:id="rId10"/>
    <p:sldId id="263" r:id="rId11"/>
    <p:sldId id="264" r:id="rId12"/>
    <p:sldId id="266" r:id="rId13"/>
    <p:sldId id="269" r:id="rId14"/>
    <p:sldId id="265" r:id="rId15"/>
    <p:sldId id="267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eyde mane" initials="sm" lastIdx="1" clrIdx="0">
    <p:extLst>
      <p:ext uri="{19B8F6BF-5375-455C-9EA6-DF929625EA0E}">
        <p15:presenceInfo xmlns:p15="http://schemas.microsoft.com/office/powerpoint/2012/main" userId="eff2609d05df8fbb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66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6-12T22:04:25.504" idx="1">
    <p:pos x="10" y="10"/>
    <p:text>Ce sujet est un vrai enjeu de santé publique mondiale. Selon l'OMS, environ 295 000 femmes meurent chaque année de complications liées à la grossesse. La majorité de ces décès survient dans des pays à faibles ressources, où l'accès à des médecins spécialistes est très limité.</p:text>
    <p:extLst>
      <p:ext uri="{C676402C-5697-4E1C-873F-D02D1690AC5C}">
        <p15:threadingInfo xmlns:p15="http://schemas.microsoft.com/office/powerpoint/2012/main" timeZoneBias="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58540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1400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1586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comments" Target="../comments/commen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hyperlink" Target="file:///C:\Users\USER\Desktop\maternal-health-risk\index.html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22616-arch2DT/maternal-health-risk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3D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0395A"/>
          </a:solidFill>
          <a:ln w="12700">
            <a:solidFill>
              <a:srgbClr val="C039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0395A"/>
          </a:solidFill>
          <a:ln w="12700">
            <a:solidFill>
              <a:srgbClr val="C039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69280" y="-457200"/>
            <a:ext cx="4114800" cy="4114800"/>
          </a:xfrm>
          <a:prstGeom prst="ellipse">
            <a:avLst/>
          </a:prstGeom>
          <a:solidFill>
            <a:srgbClr val="115E73">
              <a:alpha val="40000"/>
            </a:srgbClr>
          </a:solidFill>
          <a:ln w="12700">
            <a:solidFill>
              <a:srgbClr val="115E73">
                <a:alpha val="2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2560320"/>
            <a:ext cx="2743200" cy="2743200"/>
          </a:xfrm>
          <a:prstGeom prst="ellipse">
            <a:avLst/>
          </a:prstGeom>
          <a:solidFill>
            <a:srgbClr val="C0395A">
              <a:alpha val="20000"/>
            </a:srgbClr>
          </a:solidFill>
          <a:ln w="12700">
            <a:solidFill>
              <a:srgbClr val="C0395A">
                <a:alpha val="10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991081" y="710880"/>
            <a:ext cx="3790238" cy="315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A8D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Université de Nouakchott Al-Aasriya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47584" y="1548190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Diagnostic de la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647584" y="2183130"/>
            <a:ext cx="6858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E8B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Santé Maternelle</a:t>
            </a:r>
            <a:endParaRPr lang="en-US" sz="4400" dirty="0"/>
          </a:p>
        </p:txBody>
      </p:sp>
      <p:sp>
        <p:nvSpPr>
          <p:cNvPr id="12" name="Text 9"/>
          <p:cNvSpPr/>
          <p:nvPr/>
        </p:nvSpPr>
        <p:spPr>
          <a:xfrm>
            <a:off x="418984" y="351415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8D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Étudiant :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Said  |  Matricule C34651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18984" y="38633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8D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Encadrant :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Ezyn SEGNANE</a:t>
            </a:r>
            <a:endParaRPr lang="en-US" sz="1200" dirty="0"/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8D6E4A2F-114F-4FF0-A7AB-56D14280B7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54864"/>
            <a:ext cx="3657600" cy="50247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7867A74B-886D-4683-B592-7A7D9587EB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7084" y="79369"/>
            <a:ext cx="698232" cy="722377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3D4F"/>
          </a:solidFill>
          <a:ln w="12700">
            <a:solidFill>
              <a:srgbClr val="0D3D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de la Présentation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1234440"/>
            <a:ext cx="411480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9050">
            <a:solidFill>
              <a:srgbClr val="A8D8E3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484632" y="1463040"/>
            <a:ext cx="502920" cy="502920"/>
          </a:xfrm>
          <a:prstGeom prst="ellipse">
            <a:avLst/>
          </a:prstGeom>
          <a:solidFill>
            <a:srgbClr val="1A8CA0"/>
          </a:solidFill>
          <a:ln w="12700">
            <a:solidFill>
              <a:srgbClr val="1A8C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84632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69848" y="1307592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Contexte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69848" y="1709928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Problématique, objectifs, dataset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" y="2468880"/>
            <a:ext cx="4114800" cy="1005840"/>
          </a:xfrm>
          <a:prstGeom prst="roundRect">
            <a:avLst>
              <a:gd name="adj" fmla="val 9091"/>
            </a:avLst>
          </a:prstGeom>
          <a:solidFill>
            <a:srgbClr val="F0F9FB"/>
          </a:solidFill>
          <a:ln w="19050">
            <a:solidFill>
              <a:srgbClr val="A8D8E3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4632" y="2697480"/>
            <a:ext cx="502920" cy="502920"/>
          </a:xfrm>
          <a:prstGeom prst="ellipse">
            <a:avLst/>
          </a:prstGeom>
          <a:solidFill>
            <a:srgbClr val="1A8CA0"/>
          </a:solidFill>
          <a:ln w="12700">
            <a:solidFill>
              <a:srgbClr val="1A8C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69848" y="2542032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Méthodologie ML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69848" y="2944368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Pipeline, SMOTE, Feature Engineering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0040" y="3703320"/>
            <a:ext cx="4114800" cy="1005840"/>
          </a:xfrm>
          <a:prstGeom prst="roundRect">
            <a:avLst>
              <a:gd name="adj" fmla="val 9091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rgbClr val="A8D8E3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84632" y="3931920"/>
            <a:ext cx="502920" cy="502920"/>
          </a:xfrm>
          <a:prstGeom prst="ellipse">
            <a:avLst/>
          </a:prstGeom>
          <a:solidFill>
            <a:srgbClr val="1A8CA0"/>
          </a:solidFill>
          <a:ln w="12700">
            <a:solidFill>
              <a:srgbClr val="1A8C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" y="3931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69848" y="3776472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69848" y="4178808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Performances comparatives des modèles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880" y="1234440"/>
            <a:ext cx="4114800" cy="1005840"/>
          </a:xfrm>
          <a:prstGeom prst="roundRect">
            <a:avLst>
              <a:gd name="adj" fmla="val 9091"/>
            </a:avLst>
          </a:prstGeom>
          <a:solidFill>
            <a:schemeClr val="tx2">
              <a:lumMod val="20000"/>
              <a:lumOff val="80000"/>
            </a:schemeClr>
          </a:solidFill>
          <a:ln w="19050">
            <a:solidFill>
              <a:srgbClr val="A8D8E3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919472" y="1463040"/>
            <a:ext cx="502920" cy="502920"/>
          </a:xfrm>
          <a:prstGeom prst="ellipse">
            <a:avLst/>
          </a:prstGeom>
          <a:solidFill>
            <a:srgbClr val="1A8CA0"/>
          </a:solidFill>
          <a:ln w="12700">
            <a:solidFill>
              <a:srgbClr val="1A8CA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19472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504688" y="1307592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Critique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504688" y="1709928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Analyse, limites et biais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54880" y="2468880"/>
            <a:ext cx="4114800" cy="1005840"/>
          </a:xfrm>
          <a:prstGeom prst="roundRect">
            <a:avLst>
              <a:gd name="adj" fmla="val 9091"/>
            </a:avLst>
          </a:prstGeom>
          <a:solidFill>
            <a:srgbClr val="F0F9FB"/>
          </a:solidFill>
          <a:ln w="19050">
            <a:solidFill>
              <a:srgbClr val="A8D8E3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919472" y="2697480"/>
            <a:ext cx="502920" cy="502920"/>
          </a:xfrm>
          <a:prstGeom prst="ellipse">
            <a:avLst/>
          </a:prstGeom>
          <a:solidFill>
            <a:srgbClr val="1A8CA0"/>
          </a:solidFill>
          <a:ln w="12700">
            <a:solidFill>
              <a:srgbClr val="1A8CA0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26" name="Text 24"/>
          <p:cNvSpPr/>
          <p:nvPr/>
        </p:nvSpPr>
        <p:spPr>
          <a:xfrm>
            <a:off x="4919472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504688" y="2542032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Web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504688" y="2944368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5A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Présentation</a:t>
            </a:r>
            <a:r>
              <a:rPr lang="en-US" sz="1000" dirty="0">
                <a:solidFill>
                  <a:srgbClr val="5A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5A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personnelle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754880" y="3657600"/>
            <a:ext cx="4114800" cy="1005840"/>
          </a:xfrm>
          <a:prstGeom prst="roundRect">
            <a:avLst>
              <a:gd name="adj" fmla="val 9091"/>
            </a:avLst>
          </a:prstGeom>
          <a:solidFill>
            <a:srgbClr val="F2D0DA"/>
          </a:solidFill>
          <a:ln w="19050">
            <a:solidFill>
              <a:srgbClr val="C0395A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0" name="Shape 28"/>
          <p:cNvSpPr/>
          <p:nvPr/>
        </p:nvSpPr>
        <p:spPr>
          <a:xfrm>
            <a:off x="4919472" y="3931920"/>
            <a:ext cx="502920" cy="502920"/>
          </a:xfrm>
          <a:prstGeom prst="ellipse">
            <a:avLst/>
          </a:prstGeom>
          <a:solidFill>
            <a:srgbClr val="0070C0"/>
          </a:solidFill>
          <a:ln w="12700">
            <a:solidFill>
              <a:srgbClr val="C0395A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31" name="Text 29"/>
          <p:cNvSpPr/>
          <p:nvPr/>
        </p:nvSpPr>
        <p:spPr>
          <a:xfrm>
            <a:off x="4919472" y="3931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504688" y="3776472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Perspectives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504688" y="4178808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5A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Synthèse</a:t>
            </a:r>
            <a:r>
              <a:rPr lang="en-US" sz="1000" dirty="0">
                <a:solidFill>
                  <a:srgbClr val="5A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et </a:t>
            </a:r>
            <a:r>
              <a:rPr lang="en-US" sz="1000" dirty="0" err="1">
                <a:solidFill>
                  <a:srgbClr val="5A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recommandations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3D4F"/>
          </a:solidFill>
          <a:ln w="12700">
            <a:solidFill>
              <a:srgbClr val="0D3D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  |  Introduction &amp; Contexte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2560320" cy="2194560"/>
          </a:xfrm>
          <a:prstGeom prst="roundRect">
            <a:avLst>
              <a:gd name="adj" fmla="val 5000"/>
            </a:avLst>
          </a:prstGeom>
          <a:solidFill>
            <a:srgbClr val="0D3D4F"/>
          </a:solidFill>
          <a:ln w="12700">
            <a:solidFill>
              <a:srgbClr val="0D3D4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23444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18745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E8B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295 000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274320" y="2487168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D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décès maternels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A8D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an (OMS 2023)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154680" y="1097280"/>
            <a:ext cx="5669280" cy="713232"/>
          </a:xfrm>
          <a:prstGeom prst="roundRect">
            <a:avLst>
              <a:gd name="adj" fmla="val 10256"/>
            </a:avLst>
          </a:prstGeom>
          <a:solidFill>
            <a:srgbClr val="F0F9FB"/>
          </a:solidFill>
          <a:ln w="12700">
            <a:solidFill>
              <a:srgbClr val="A8D8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273552" y="1234440"/>
            <a:ext cx="320040" cy="320040"/>
          </a:xfrm>
          <a:prstGeom prst="ellipse">
            <a:avLst/>
          </a:prstGeom>
          <a:solidFill>
            <a:srgbClr val="1A8CA0"/>
          </a:solidFill>
          <a:ln w="12700">
            <a:solidFill>
              <a:srgbClr val="1A8CA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703320" y="1161288"/>
            <a:ext cx="5029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Mortalité maternelle : indicateur de santé publique critique à l'échelle mondiale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154680" y="1938528"/>
            <a:ext cx="5669280" cy="713232"/>
          </a:xfrm>
          <a:prstGeom prst="roundRect">
            <a:avLst>
              <a:gd name="adj" fmla="val 10256"/>
            </a:avLst>
          </a:prstGeom>
          <a:solidFill>
            <a:srgbClr val="F7FCFD"/>
          </a:solidFill>
          <a:ln w="12700">
            <a:solidFill>
              <a:srgbClr val="A8D8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73552" y="2075688"/>
            <a:ext cx="320040" cy="320040"/>
          </a:xfrm>
          <a:prstGeom prst="ellipse">
            <a:avLst/>
          </a:prstGeom>
          <a:solidFill>
            <a:srgbClr val="1A8CA0"/>
          </a:solidFill>
          <a:ln w="12700">
            <a:solidFill>
              <a:srgbClr val="1A8CA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703320" y="2002536"/>
            <a:ext cx="5029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majorité des décès dans les pays à faibles ressources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154680" y="2779776"/>
            <a:ext cx="5669280" cy="713232"/>
          </a:xfrm>
          <a:prstGeom prst="roundRect">
            <a:avLst>
              <a:gd name="adj" fmla="val 10256"/>
            </a:avLst>
          </a:prstGeom>
          <a:solidFill>
            <a:srgbClr val="F0F9FB"/>
          </a:solidFill>
          <a:ln w="12700">
            <a:solidFill>
              <a:srgbClr val="A8D8E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273552" y="2916936"/>
            <a:ext cx="320040" cy="320040"/>
          </a:xfrm>
          <a:prstGeom prst="ellipse">
            <a:avLst/>
          </a:prstGeom>
          <a:solidFill>
            <a:srgbClr val="1A8CA0"/>
          </a:solidFill>
          <a:ln w="12700">
            <a:solidFill>
              <a:srgbClr val="1A8CA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703320" y="2843784"/>
            <a:ext cx="5029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Signaux prédictifs : PA, glycémie, température, FC — expertise clinique manquante en zones rurales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154680" y="3621024"/>
            <a:ext cx="5669280" cy="713232"/>
          </a:xfrm>
          <a:prstGeom prst="roundRect">
            <a:avLst>
              <a:gd name="adj" fmla="val 10256"/>
            </a:avLst>
          </a:prstGeom>
          <a:solidFill>
            <a:srgbClr val="F7FCFD"/>
          </a:solidFill>
          <a:ln w="12700">
            <a:solidFill>
              <a:srgbClr val="A8D8E3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273552" y="3758184"/>
            <a:ext cx="320040" cy="320040"/>
          </a:xfrm>
          <a:prstGeom prst="ellipse">
            <a:avLst/>
          </a:prstGeom>
          <a:solidFill>
            <a:srgbClr val="1A8CA0"/>
          </a:solidFill>
          <a:ln w="12700">
            <a:solidFill>
              <a:srgbClr val="1A8CA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703320" y="3685032"/>
            <a:ext cx="5029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&amp; apprentissage supervisé : opportunité d'automatiser le triage du risque maternel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74320" y="4480560"/>
            <a:ext cx="8595360" cy="502920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solidFill>
              <a:srgbClr val="C0395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74320" y="4480560"/>
            <a:ext cx="8595360" cy="50292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: Comparer 4 algorithmes ML pour la classification du risque maternel (Low / Mid / High)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3D4F"/>
          </a:solidFill>
          <a:ln w="12700">
            <a:solidFill>
              <a:srgbClr val="0D3D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  |  Description du Jeu de Données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09728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109728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3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Maternal Health Risk Data Set — UCI Machine Learning Repository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914400" y="1572768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1 014 observations • Hôpitaux ruraux du Bangladesh • Systèmes IoT de surveillance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320040" y="1965960"/>
            <a:ext cx="2011680" cy="384048"/>
          </a:xfrm>
          <a:prstGeom prst="rect">
            <a:avLst/>
          </a:prstGeom>
          <a:solidFill>
            <a:srgbClr val="0D3D4F"/>
          </a:solidFill>
          <a:ln w="12700">
            <a:solidFill>
              <a:srgbClr val="0D3D4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93192" y="1965960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331720" y="1965960"/>
            <a:ext cx="2011680" cy="384048"/>
          </a:xfrm>
          <a:prstGeom prst="rect">
            <a:avLst/>
          </a:prstGeom>
          <a:solidFill>
            <a:srgbClr val="0D3D4F"/>
          </a:solidFill>
          <a:ln w="12700">
            <a:solidFill>
              <a:srgbClr val="0D3D4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404872" y="1965960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Plage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43400" y="1965960"/>
            <a:ext cx="4023360" cy="384048"/>
          </a:xfrm>
          <a:prstGeom prst="rect">
            <a:avLst/>
          </a:prstGeom>
          <a:solidFill>
            <a:srgbClr val="0D3D4F"/>
          </a:solidFill>
          <a:ln w="12700">
            <a:solidFill>
              <a:srgbClr val="0D3D4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416552" y="196596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20040" y="2350008"/>
            <a:ext cx="2011680" cy="338328"/>
          </a:xfrm>
          <a:prstGeom prst="rect">
            <a:avLst/>
          </a:prstGeom>
          <a:solidFill>
            <a:srgbClr val="F0F9FB"/>
          </a:solidFill>
          <a:ln w="9525">
            <a:solidFill>
              <a:srgbClr val="D5E8E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93192" y="2350008"/>
            <a:ext cx="192024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2331720" y="2350008"/>
            <a:ext cx="2011680" cy="338328"/>
          </a:xfrm>
          <a:prstGeom prst="rect">
            <a:avLst/>
          </a:prstGeom>
          <a:solidFill>
            <a:srgbClr val="F0F9FB"/>
          </a:solidFill>
          <a:ln w="9525">
            <a:solidFill>
              <a:srgbClr val="D5E8E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404872" y="2350008"/>
            <a:ext cx="192024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– 70 ans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343400" y="2350008"/>
            <a:ext cx="4023360" cy="338328"/>
          </a:xfrm>
          <a:prstGeom prst="rect">
            <a:avLst/>
          </a:prstGeom>
          <a:solidFill>
            <a:srgbClr val="F0F9FB"/>
          </a:solidFill>
          <a:ln w="9525">
            <a:solidFill>
              <a:srgbClr val="D5E8E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416552" y="2350008"/>
            <a:ext cx="393192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Âge de la patiente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320040" y="2688336"/>
            <a:ext cx="201168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5E8E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93192" y="2688336"/>
            <a:ext cx="192024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SystolicBP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2331720" y="2688336"/>
            <a:ext cx="201168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5E8E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404872" y="2688336"/>
            <a:ext cx="192024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– 160 mmHg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343400" y="2688336"/>
            <a:ext cx="402336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5E8E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416552" y="2688336"/>
            <a:ext cx="393192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Pression artérielle systolique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320040" y="3026664"/>
            <a:ext cx="2011680" cy="338328"/>
          </a:xfrm>
          <a:prstGeom prst="rect">
            <a:avLst/>
          </a:prstGeom>
          <a:solidFill>
            <a:srgbClr val="F0F9FB"/>
          </a:solidFill>
          <a:ln w="9525">
            <a:solidFill>
              <a:srgbClr val="D5E8E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93192" y="3026664"/>
            <a:ext cx="192024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DiastolicBP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2331720" y="3026664"/>
            <a:ext cx="2011680" cy="338328"/>
          </a:xfrm>
          <a:prstGeom prst="rect">
            <a:avLst/>
          </a:prstGeom>
          <a:solidFill>
            <a:srgbClr val="F0F9FB"/>
          </a:solidFill>
          <a:ln w="9525">
            <a:solidFill>
              <a:srgbClr val="D5E8EF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2404872" y="3026664"/>
            <a:ext cx="192024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 – 100 mmHg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343400" y="3026664"/>
            <a:ext cx="4023360" cy="338328"/>
          </a:xfrm>
          <a:prstGeom prst="rect">
            <a:avLst/>
          </a:prstGeom>
          <a:solidFill>
            <a:srgbClr val="F0F9FB"/>
          </a:solidFill>
          <a:ln w="9525">
            <a:solidFill>
              <a:srgbClr val="D5E8E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416552" y="3026664"/>
            <a:ext cx="393192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Pression artérielle diastolique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320040" y="3364992"/>
            <a:ext cx="201168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5E8EF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393192" y="3364992"/>
            <a:ext cx="192024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(Glycémie)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2331720" y="3364992"/>
            <a:ext cx="201168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5E8E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404872" y="3364992"/>
            <a:ext cx="192024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6,0 – 19,0 mmol/L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4343400" y="3364992"/>
            <a:ext cx="402336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5E8EF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416552" y="3364992"/>
            <a:ext cx="393192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Sugar — variable clé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320040" y="3703320"/>
            <a:ext cx="2011680" cy="338328"/>
          </a:xfrm>
          <a:prstGeom prst="rect">
            <a:avLst/>
          </a:prstGeom>
          <a:solidFill>
            <a:srgbClr val="F0F9FB"/>
          </a:solidFill>
          <a:ln w="9525">
            <a:solidFill>
              <a:srgbClr val="D5E8E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393192" y="3703320"/>
            <a:ext cx="192024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BodyTemp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2331720" y="3703320"/>
            <a:ext cx="2011680" cy="338328"/>
          </a:xfrm>
          <a:prstGeom prst="rect">
            <a:avLst/>
          </a:prstGeom>
          <a:solidFill>
            <a:srgbClr val="F0F9FB"/>
          </a:solidFill>
          <a:ln w="9525">
            <a:solidFill>
              <a:srgbClr val="D5E8EF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2404872" y="3703320"/>
            <a:ext cx="192024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 – 103 °F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4343400" y="3703320"/>
            <a:ext cx="4023360" cy="338328"/>
          </a:xfrm>
          <a:prstGeom prst="rect">
            <a:avLst/>
          </a:prstGeom>
          <a:solidFill>
            <a:srgbClr val="F0F9FB"/>
          </a:solidFill>
          <a:ln w="9525">
            <a:solidFill>
              <a:srgbClr val="D5E8EF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4416552" y="3703320"/>
            <a:ext cx="393192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Température corporelle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320040" y="4041648"/>
            <a:ext cx="201168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5E8EF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393192" y="4041648"/>
            <a:ext cx="192024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HeartRate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2331720" y="4041648"/>
            <a:ext cx="201168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5E8EF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2404872" y="4041648"/>
            <a:ext cx="192024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– 90 bpm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4343400" y="4041648"/>
            <a:ext cx="402336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5E8EF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4416552" y="4041648"/>
            <a:ext cx="393192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Fréquence cardiaque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6492240" y="19202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3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Distribution des classes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6492240" y="2377440"/>
            <a:ext cx="237744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25400">
            <a:solidFill>
              <a:srgbClr val="2A9D5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6565392" y="2532888"/>
            <a:ext cx="310896" cy="310896"/>
          </a:xfrm>
          <a:prstGeom prst="ellipse">
            <a:avLst/>
          </a:prstGeom>
          <a:solidFill>
            <a:srgbClr val="2A9D5C"/>
          </a:solidFill>
          <a:ln w="12700">
            <a:solidFill>
              <a:srgbClr val="2A9D5C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949440" y="241401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A9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Risk</a:t>
            </a:r>
            <a:endParaRPr lang="en-US" sz="1100" dirty="0"/>
          </a:p>
        </p:txBody>
      </p:sp>
      <p:sp>
        <p:nvSpPr>
          <p:cNvPr id="53" name="Text 50"/>
          <p:cNvSpPr/>
          <p:nvPr/>
        </p:nvSpPr>
        <p:spPr>
          <a:xfrm>
            <a:off x="6949440" y="2688336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406 cas  (40%)</a:t>
            </a:r>
            <a:endParaRPr lang="en-US" sz="900" dirty="0"/>
          </a:p>
        </p:txBody>
      </p:sp>
      <p:sp>
        <p:nvSpPr>
          <p:cNvPr id="54" name="Shape 51"/>
          <p:cNvSpPr/>
          <p:nvPr/>
        </p:nvSpPr>
        <p:spPr>
          <a:xfrm>
            <a:off x="6565392" y="2926080"/>
            <a:ext cx="2139696" cy="36576"/>
          </a:xfrm>
          <a:prstGeom prst="rect">
            <a:avLst/>
          </a:prstGeom>
          <a:solidFill>
            <a:srgbClr val="E8F4F7"/>
          </a:solidFill>
          <a:ln w="12700">
            <a:solidFill>
              <a:srgbClr val="E8F4F7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6565392" y="2926080"/>
            <a:ext cx="1609344" cy="36576"/>
          </a:xfrm>
          <a:prstGeom prst="rect">
            <a:avLst/>
          </a:prstGeom>
          <a:solidFill>
            <a:srgbClr val="2A9D5C"/>
          </a:solidFill>
          <a:ln w="12700">
            <a:solidFill>
              <a:srgbClr val="2A9D5C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6492240" y="3127248"/>
            <a:ext cx="237744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25400">
            <a:solidFill>
              <a:srgbClr val="E8B84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7" name="Shape 54"/>
          <p:cNvSpPr/>
          <p:nvPr/>
        </p:nvSpPr>
        <p:spPr>
          <a:xfrm>
            <a:off x="6565392" y="3282696"/>
            <a:ext cx="310896" cy="310896"/>
          </a:xfrm>
          <a:prstGeom prst="ellipse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6949440" y="316382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 Risk</a:t>
            </a:r>
            <a:endParaRPr lang="en-US" sz="1100" dirty="0"/>
          </a:p>
        </p:txBody>
      </p:sp>
      <p:sp>
        <p:nvSpPr>
          <p:cNvPr id="59" name="Text 56"/>
          <p:cNvSpPr/>
          <p:nvPr/>
        </p:nvSpPr>
        <p:spPr>
          <a:xfrm>
            <a:off x="6949440" y="3438144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336 cas  (33.1%)</a:t>
            </a:r>
            <a:endParaRPr lang="en-US" sz="900" dirty="0"/>
          </a:p>
        </p:txBody>
      </p:sp>
      <p:sp>
        <p:nvSpPr>
          <p:cNvPr id="60" name="Shape 57"/>
          <p:cNvSpPr/>
          <p:nvPr/>
        </p:nvSpPr>
        <p:spPr>
          <a:xfrm>
            <a:off x="6565392" y="3675888"/>
            <a:ext cx="2139696" cy="36576"/>
          </a:xfrm>
          <a:prstGeom prst="rect">
            <a:avLst/>
          </a:prstGeom>
          <a:solidFill>
            <a:srgbClr val="E8F4F7"/>
          </a:solidFill>
          <a:ln w="12700">
            <a:solidFill>
              <a:srgbClr val="E8F4F7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6565392" y="3675888"/>
            <a:ext cx="1331732" cy="36576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6492240" y="3877056"/>
            <a:ext cx="237744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25400">
            <a:solidFill>
              <a:srgbClr val="C0395A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3" name="Shape 60"/>
          <p:cNvSpPr/>
          <p:nvPr/>
        </p:nvSpPr>
        <p:spPr>
          <a:xfrm>
            <a:off x="6565392" y="4032504"/>
            <a:ext cx="310896" cy="310896"/>
          </a:xfrm>
          <a:prstGeom prst="ellipse">
            <a:avLst/>
          </a:prstGeom>
          <a:solidFill>
            <a:srgbClr val="C0395A"/>
          </a:solidFill>
          <a:ln w="12700">
            <a:solidFill>
              <a:srgbClr val="C0395A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6949440" y="391363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39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Risk</a:t>
            </a:r>
            <a:endParaRPr lang="en-US" sz="1100" dirty="0"/>
          </a:p>
        </p:txBody>
      </p:sp>
      <p:sp>
        <p:nvSpPr>
          <p:cNvPr id="65" name="Text 62"/>
          <p:cNvSpPr/>
          <p:nvPr/>
        </p:nvSpPr>
        <p:spPr>
          <a:xfrm>
            <a:off x="6949440" y="4187952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272 cas  (26.8%)</a:t>
            </a:r>
            <a:endParaRPr lang="en-US" sz="900" dirty="0"/>
          </a:p>
        </p:txBody>
      </p:sp>
      <p:sp>
        <p:nvSpPr>
          <p:cNvPr id="66" name="Shape 63"/>
          <p:cNvSpPr/>
          <p:nvPr/>
        </p:nvSpPr>
        <p:spPr>
          <a:xfrm>
            <a:off x="6565392" y="4425696"/>
            <a:ext cx="2139696" cy="36576"/>
          </a:xfrm>
          <a:prstGeom prst="rect">
            <a:avLst/>
          </a:prstGeom>
          <a:solidFill>
            <a:srgbClr val="E8F4F7"/>
          </a:solidFill>
          <a:ln w="12700">
            <a:solidFill>
              <a:srgbClr val="E8F4F7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6565392" y="4425696"/>
            <a:ext cx="1078260" cy="36576"/>
          </a:xfrm>
          <a:prstGeom prst="rect">
            <a:avLst/>
          </a:prstGeom>
          <a:solidFill>
            <a:srgbClr val="C0395A"/>
          </a:solidFill>
          <a:ln w="12700">
            <a:solidFill>
              <a:srgbClr val="C0395A"/>
            </a:solidFill>
            <a:prstDash val="solid"/>
          </a:ln>
        </p:spPr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82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60120" y="20116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CONTEXTE &amp; ENJEUX</a:t>
            </a:r>
            <a:endParaRPr lang="en-US" sz="2200" dirty="0"/>
          </a:p>
        </p:txBody>
      </p:sp>
      <p:pic>
        <p:nvPicPr>
          <p:cNvPr id="21" name="Picture 20" descr="chart_distribu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51868" y="1367707"/>
            <a:ext cx="4023360" cy="32004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2"/>
            </a:solidFill>
          </a:ln>
        </p:spPr>
      </p:pic>
      <p:sp>
        <p:nvSpPr>
          <p:cNvPr id="22" name="Shape 0">
            <a:extLst>
              <a:ext uri="{FF2B5EF4-FFF2-40B4-BE49-F238E27FC236}">
                <a16:creationId xmlns:a16="http://schemas.microsoft.com/office/drawing/2014/main" id="{2DC79DD6-AE8C-4F82-9711-BB22C066E04F}"/>
              </a:ext>
            </a:extLst>
          </p:cNvPr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3D4F"/>
          </a:solidFill>
          <a:ln w="12700">
            <a:solidFill>
              <a:srgbClr val="0D3D4F"/>
            </a:solidFill>
            <a:prstDash val="solid"/>
          </a:ln>
        </p:spPr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DDAFA46C-7735-4D1D-9050-38B76D3AF348}"/>
              </a:ext>
            </a:extLst>
          </p:cNvPr>
          <p:cNvSpPr txBox="1"/>
          <p:nvPr/>
        </p:nvSpPr>
        <p:spPr>
          <a:xfrm>
            <a:off x="140882" y="320211"/>
            <a:ext cx="633434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  |  Description du Jeu de </a:t>
            </a:r>
            <a:r>
              <a:rPr lang="en-US" sz="24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Données</a:t>
            </a:r>
            <a:endParaRPr lang="en-US" sz="24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3D4F"/>
          </a:solidFill>
          <a:ln w="12700">
            <a:solidFill>
              <a:srgbClr val="0D3D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  |  Méthodologie — Pipeline ML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82880" y="1280160"/>
            <a:ext cx="1078992" cy="1417320"/>
          </a:xfrm>
          <a:prstGeom prst="roundRect">
            <a:avLst>
              <a:gd name="adj" fmla="val 8475"/>
            </a:avLst>
          </a:prstGeom>
          <a:solidFill>
            <a:srgbClr val="1A8CA0"/>
          </a:solidFill>
          <a:ln w="12700">
            <a:solidFill>
              <a:srgbClr val="1A8CA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82880" y="1353312"/>
            <a:ext cx="1078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47472" y="1737360"/>
            <a:ext cx="749808" cy="27432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" y="1810512"/>
            <a:ext cx="1078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Chargement &amp; EDA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82880" y="2240280"/>
            <a:ext cx="10789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 initiale</a:t>
            </a:r>
            <a:endParaRPr lang="en-US" sz="9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1016" y="1828800"/>
            <a:ext cx="128016" cy="128016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426464" y="1280160"/>
            <a:ext cx="1078992" cy="1417320"/>
          </a:xfrm>
          <a:prstGeom prst="roundRect">
            <a:avLst>
              <a:gd name="adj" fmla="val 8475"/>
            </a:avLst>
          </a:prstGeom>
          <a:solidFill>
            <a:srgbClr val="1A8CA0"/>
          </a:solidFill>
          <a:ln w="12700">
            <a:solidFill>
              <a:srgbClr val="1A8CA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1426464" y="1353312"/>
            <a:ext cx="1078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1591056" y="1737360"/>
            <a:ext cx="749808" cy="27432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426464" y="1810512"/>
            <a:ext cx="1078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Nettoyage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426464" y="2240280"/>
            <a:ext cx="10789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 anomalies</a:t>
            </a:r>
            <a:endParaRPr lang="en-US" sz="90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600" y="1828800"/>
            <a:ext cx="128016" cy="128016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2670048" y="1280160"/>
            <a:ext cx="1078992" cy="1417320"/>
          </a:xfrm>
          <a:prstGeom prst="roundRect">
            <a:avLst>
              <a:gd name="adj" fmla="val 8475"/>
            </a:avLst>
          </a:prstGeom>
          <a:solidFill>
            <a:srgbClr val="115E73"/>
          </a:solidFill>
          <a:ln w="12700">
            <a:solidFill>
              <a:srgbClr val="115E73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2670048" y="1353312"/>
            <a:ext cx="1078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2834640" y="1737360"/>
            <a:ext cx="749808" cy="27432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70048" y="1810512"/>
            <a:ext cx="1078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Eng.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2670048" y="2240280"/>
            <a:ext cx="10789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nouvelles variables</a:t>
            </a:r>
            <a:endParaRPr lang="en-US" sz="900" dirty="0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8184" y="1828800"/>
            <a:ext cx="128016" cy="128016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3913632" y="1280160"/>
            <a:ext cx="1078992" cy="1417320"/>
          </a:xfrm>
          <a:prstGeom prst="roundRect">
            <a:avLst>
              <a:gd name="adj" fmla="val 8475"/>
            </a:avLst>
          </a:prstGeom>
          <a:solidFill>
            <a:srgbClr val="115E73"/>
          </a:solidFill>
          <a:ln w="12700">
            <a:solidFill>
              <a:srgbClr val="115E73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Text 18"/>
          <p:cNvSpPr/>
          <p:nvPr/>
        </p:nvSpPr>
        <p:spPr>
          <a:xfrm>
            <a:off x="3913632" y="1353312"/>
            <a:ext cx="1078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Shape 19"/>
          <p:cNvSpPr/>
          <p:nvPr/>
        </p:nvSpPr>
        <p:spPr>
          <a:xfrm>
            <a:off x="4078224" y="1737360"/>
            <a:ext cx="749808" cy="27432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3913632" y="1810512"/>
            <a:ext cx="1078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80/20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3913632" y="2240280"/>
            <a:ext cx="10789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Normalisation StandardScaler</a:t>
            </a:r>
            <a:endParaRPr lang="en-US" sz="900" dirty="0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1768" y="1828800"/>
            <a:ext cx="128016" cy="128016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5157216" y="1280160"/>
            <a:ext cx="1078992" cy="1417320"/>
          </a:xfrm>
          <a:prstGeom prst="roundRect">
            <a:avLst>
              <a:gd name="adj" fmla="val 8475"/>
            </a:avLst>
          </a:prstGeom>
          <a:solidFill>
            <a:srgbClr val="C0395A"/>
          </a:solidFill>
          <a:ln w="12700">
            <a:solidFill>
              <a:srgbClr val="C0395A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9" name="Text 23"/>
          <p:cNvSpPr/>
          <p:nvPr/>
        </p:nvSpPr>
        <p:spPr>
          <a:xfrm>
            <a:off x="5157216" y="1353312"/>
            <a:ext cx="1078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Shape 24"/>
          <p:cNvSpPr/>
          <p:nvPr/>
        </p:nvSpPr>
        <p:spPr>
          <a:xfrm>
            <a:off x="5321808" y="1737360"/>
            <a:ext cx="749808" cy="27432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5157216" y="1810512"/>
            <a:ext cx="1078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SMOTE</a:t>
            </a:r>
            <a:endParaRPr lang="en-US" sz="1000" dirty="0"/>
          </a:p>
        </p:txBody>
      </p:sp>
      <p:sp>
        <p:nvSpPr>
          <p:cNvPr id="32" name="Text 26"/>
          <p:cNvSpPr/>
          <p:nvPr/>
        </p:nvSpPr>
        <p:spPr>
          <a:xfrm>
            <a:off x="5157216" y="2240280"/>
            <a:ext cx="10789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Rééquilibrage classes</a:t>
            </a:r>
            <a:endParaRPr lang="en-US" sz="900" dirty="0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828800"/>
            <a:ext cx="128016" cy="128016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6400800" y="1280160"/>
            <a:ext cx="1078992" cy="1417320"/>
          </a:xfrm>
          <a:prstGeom prst="roundRect">
            <a:avLst>
              <a:gd name="adj" fmla="val 8475"/>
            </a:avLst>
          </a:prstGeom>
          <a:solidFill>
            <a:srgbClr val="C0395A"/>
          </a:solidFill>
          <a:ln w="12700">
            <a:solidFill>
              <a:srgbClr val="C0395A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5" name="Text 28"/>
          <p:cNvSpPr/>
          <p:nvPr/>
        </p:nvSpPr>
        <p:spPr>
          <a:xfrm>
            <a:off x="6400800" y="1353312"/>
            <a:ext cx="1078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36" name="Shape 29"/>
          <p:cNvSpPr/>
          <p:nvPr/>
        </p:nvSpPr>
        <p:spPr>
          <a:xfrm>
            <a:off x="6565392" y="1737360"/>
            <a:ext cx="749808" cy="27432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6400800" y="1810512"/>
            <a:ext cx="1078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GridSearchCV</a:t>
            </a:r>
            <a:endParaRPr lang="en-US" sz="1000" dirty="0"/>
          </a:p>
        </p:txBody>
      </p:sp>
      <p:sp>
        <p:nvSpPr>
          <p:cNvPr id="38" name="Text 31"/>
          <p:cNvSpPr/>
          <p:nvPr/>
        </p:nvSpPr>
        <p:spPr>
          <a:xfrm>
            <a:off x="6400800" y="2240280"/>
            <a:ext cx="10789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hyperparams</a:t>
            </a:r>
            <a:endParaRPr lang="en-US" sz="900" dirty="0"/>
          </a:p>
        </p:txBody>
      </p:sp>
      <p:pic>
        <p:nvPicPr>
          <p:cNvPr id="39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8936" y="1828800"/>
            <a:ext cx="128016" cy="128016"/>
          </a:xfrm>
          <a:prstGeom prst="rect">
            <a:avLst/>
          </a:prstGeom>
        </p:spPr>
      </p:pic>
      <p:sp>
        <p:nvSpPr>
          <p:cNvPr id="40" name="Shape 32"/>
          <p:cNvSpPr/>
          <p:nvPr/>
        </p:nvSpPr>
        <p:spPr>
          <a:xfrm>
            <a:off x="7644384" y="1280160"/>
            <a:ext cx="1078992" cy="1417320"/>
          </a:xfrm>
          <a:prstGeom prst="roundRect">
            <a:avLst>
              <a:gd name="adj" fmla="val 8475"/>
            </a:avLst>
          </a:prstGeom>
          <a:solidFill>
            <a:srgbClr val="0D3D4F"/>
          </a:solidFill>
          <a:ln w="12700">
            <a:solidFill>
              <a:srgbClr val="0D3D4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1" name="Text 33"/>
          <p:cNvSpPr/>
          <p:nvPr/>
        </p:nvSpPr>
        <p:spPr>
          <a:xfrm>
            <a:off x="7644384" y="1353312"/>
            <a:ext cx="1078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200" dirty="0"/>
          </a:p>
        </p:txBody>
      </p:sp>
      <p:sp>
        <p:nvSpPr>
          <p:cNvPr id="42" name="Shape 34"/>
          <p:cNvSpPr/>
          <p:nvPr/>
        </p:nvSpPr>
        <p:spPr>
          <a:xfrm>
            <a:off x="7808976" y="1737360"/>
            <a:ext cx="749808" cy="27432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7644384" y="1810512"/>
            <a:ext cx="1078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</a:t>
            </a:r>
            <a:endParaRPr lang="en-US" sz="1000" dirty="0"/>
          </a:p>
        </p:txBody>
      </p:sp>
      <p:sp>
        <p:nvSpPr>
          <p:cNvPr id="44" name="Text 36"/>
          <p:cNvSpPr/>
          <p:nvPr/>
        </p:nvSpPr>
        <p:spPr>
          <a:xfrm>
            <a:off x="7644384" y="2240280"/>
            <a:ext cx="10789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F1, ROC-AUC, Accuracy</a:t>
            </a:r>
            <a:endParaRPr lang="en-US" sz="900" dirty="0"/>
          </a:p>
        </p:txBody>
      </p:sp>
      <p:sp>
        <p:nvSpPr>
          <p:cNvPr id="45" name="Shape 37"/>
          <p:cNvSpPr/>
          <p:nvPr/>
        </p:nvSpPr>
        <p:spPr>
          <a:xfrm>
            <a:off x="274320" y="3017520"/>
            <a:ext cx="8595360" cy="987552"/>
          </a:xfrm>
          <a:prstGeom prst="roundRect">
            <a:avLst>
              <a:gd name="adj" fmla="val 9259"/>
            </a:avLst>
          </a:prstGeom>
          <a:solidFill>
            <a:srgbClr val="F2D0DA"/>
          </a:solidFill>
          <a:ln w="19050">
            <a:solidFill>
              <a:srgbClr val="C0395A"/>
            </a:solidFill>
            <a:prstDash val="solid"/>
          </a:ln>
        </p:spPr>
      </p:sp>
      <p:sp>
        <p:nvSpPr>
          <p:cNvPr id="46" name="Text 38"/>
          <p:cNvSpPr/>
          <p:nvPr/>
        </p:nvSpPr>
        <p:spPr>
          <a:xfrm>
            <a:off x="457200" y="309067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039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SMOTE — Synthetic Minority Over-sampling Technique</a:t>
            </a:r>
            <a:endParaRPr lang="en-US" sz="1200" dirty="0"/>
          </a:p>
        </p:txBody>
      </p:sp>
      <p:sp>
        <p:nvSpPr>
          <p:cNvPr id="47" name="Text 39"/>
          <p:cNvSpPr/>
          <p:nvPr/>
        </p:nvSpPr>
        <p:spPr>
          <a:xfrm>
            <a:off x="457200" y="338328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Génération d'exemples synthétiques pour les classes minoritaires par interpolation entre voisins proches (k=5). Appliqué uniquement sur le train set pour éviter toute fuite d'information (data leakage).</a:t>
            </a:r>
            <a:endParaRPr lang="en-US" sz="1000" dirty="0"/>
          </a:p>
        </p:txBody>
      </p:sp>
      <p:sp>
        <p:nvSpPr>
          <p:cNvPr id="48" name="Shape 40"/>
          <p:cNvSpPr/>
          <p:nvPr/>
        </p:nvSpPr>
        <p:spPr>
          <a:xfrm>
            <a:off x="274320" y="4096512"/>
            <a:ext cx="8595360" cy="841248"/>
          </a:xfrm>
          <a:prstGeom prst="roundRect">
            <a:avLst>
              <a:gd name="adj" fmla="val 10870"/>
            </a:avLst>
          </a:prstGeom>
          <a:solidFill>
            <a:srgbClr val="F0F9FB"/>
          </a:solidFill>
          <a:ln w="19050">
            <a:solidFill>
              <a:srgbClr val="1A8CA0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49" name="Text 41"/>
          <p:cNvSpPr/>
          <p:nvPr/>
        </p:nvSpPr>
        <p:spPr>
          <a:xfrm>
            <a:off x="457200" y="4151376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(+5 variables) : </a:t>
            </a:r>
            <a:endParaRPr lang="en-US" sz="1100" dirty="0"/>
          </a:p>
        </p:txBody>
      </p:sp>
      <p:sp>
        <p:nvSpPr>
          <p:cNvPr id="50" name="Text 42"/>
          <p:cNvSpPr/>
          <p:nvPr/>
        </p:nvSpPr>
        <p:spPr>
          <a:xfrm>
            <a:off x="457200" y="4443984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AgeBin  •  PulsePressure (SBP − DBP)  •  MAP (pression artérielle moyenne)  •  </a:t>
            </a:r>
            <a:r>
              <a:rPr lang="en-US" sz="1000" dirty="0" err="1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HyperBP_flag</a:t>
            </a:r>
            <a:r>
              <a:rPr lang="en-US" sz="10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fr-FR" sz="1000" dirty="0"/>
              <a:t>Indicateur d'hypertension)</a:t>
            </a:r>
            <a:r>
              <a:rPr lang="en-US" sz="10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 </a:t>
            </a:r>
            <a:r>
              <a:rPr lang="en-US" sz="1000" dirty="0" err="1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HighBS_flag</a:t>
            </a:r>
            <a:r>
              <a:rPr lang="en-US" sz="10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fr-FR" sz="1000" dirty="0"/>
              <a:t>Indicateur de glycémie élevée)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3D4F"/>
          </a:solidFill>
          <a:ln w="12700">
            <a:solidFill>
              <a:srgbClr val="0D3D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  |  Algorithmes de Classification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143000"/>
            <a:ext cx="4069080" cy="1874520"/>
          </a:xfrm>
          <a:prstGeom prst="roundRect">
            <a:avLst>
              <a:gd name="adj" fmla="val 5854"/>
            </a:avLst>
          </a:prstGeom>
          <a:solidFill>
            <a:srgbClr val="F0F9FB"/>
          </a:solidFill>
          <a:ln w="25400">
            <a:solidFill>
              <a:srgbClr val="1A8CA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38912" y="1344168"/>
            <a:ext cx="640080" cy="640080"/>
          </a:xfrm>
          <a:prstGeom prst="ellipse">
            <a:avLst/>
          </a:prstGeom>
          <a:solidFill>
            <a:srgbClr val="1A8CA0"/>
          </a:solidFill>
          <a:ln w="12700">
            <a:solidFill>
              <a:srgbClr val="1A8C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38912" y="13441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88720" y="1307592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8C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Régression Logistique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856232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linéaire probabiliste — baseline interprétable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57200" y="244144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Hyperparams : C ∈ {0,01–100}, solver, penalty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0" y="1143000"/>
            <a:ext cx="4069080" cy="1874520"/>
          </a:xfrm>
          <a:prstGeom prst="roundRect">
            <a:avLst>
              <a:gd name="adj" fmla="val 5854"/>
            </a:avLst>
          </a:prstGeom>
          <a:solidFill>
            <a:srgbClr val="FFFDF0"/>
          </a:solidFill>
          <a:ln w="25400">
            <a:solidFill>
              <a:srgbClr val="E8B84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36592" y="1344168"/>
            <a:ext cx="640080" cy="640080"/>
          </a:xfrm>
          <a:prstGeom prst="ellipse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36592" y="13441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0" y="1307592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B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Arbre de Décision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754880" y="1856232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 récursive de l'espace de features, très interprétable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754880" y="244144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Hyperparams : max_depth, min_samples_split, gini/entropy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3246120"/>
            <a:ext cx="4069080" cy="1874520"/>
          </a:xfrm>
          <a:prstGeom prst="roundRect">
            <a:avLst>
              <a:gd name="adj" fmla="val 5854"/>
            </a:avLst>
          </a:prstGeom>
          <a:solidFill>
            <a:srgbClr val="F0FBF5"/>
          </a:solidFill>
          <a:ln w="25400">
            <a:solidFill>
              <a:srgbClr val="2A9D5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38912" y="3447288"/>
            <a:ext cx="640080" cy="640080"/>
          </a:xfrm>
          <a:prstGeom prst="ellipse">
            <a:avLst/>
          </a:prstGeom>
          <a:solidFill>
            <a:srgbClr val="2A9D5C"/>
          </a:solidFill>
          <a:ln w="12700">
            <a:solidFill>
              <a:srgbClr val="2A9D5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8912" y="344728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 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88720" y="3410712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9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Forêt Aléatoire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3959352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de 100–300 arbres. Bagging + sélection aléatoire de features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7200" y="454456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Hyperparams : n_estimators, max_depth, max_features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0" y="3246120"/>
            <a:ext cx="4069080" cy="1874520"/>
          </a:xfrm>
          <a:prstGeom prst="roundRect">
            <a:avLst>
              <a:gd name="adj" fmla="val 5854"/>
            </a:avLst>
          </a:prstGeom>
          <a:solidFill>
            <a:srgbClr val="FFF0F3"/>
          </a:solidFill>
          <a:ln w="25400">
            <a:solidFill>
              <a:srgbClr val="C0395A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736592" y="3447288"/>
            <a:ext cx="640080" cy="640080"/>
          </a:xfrm>
          <a:prstGeom prst="ellipse">
            <a:avLst/>
          </a:prstGeom>
          <a:solidFill>
            <a:srgbClr val="C0395A"/>
          </a:solidFill>
          <a:ln w="12700">
            <a:solidFill>
              <a:srgbClr val="C039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36592" y="344728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486400" y="3410712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SVM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754880" y="3959352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Maximisation de la marge, noyaux RBF/linéaire/polynomial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754880" y="454456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Hyperparams : C ∈ {0,1–100}, kernel, gamma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82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60120" y="20116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CONTEXTE &amp; ENJEUX</a:t>
            </a:r>
            <a:endParaRPr lang="en-US" sz="2200" dirty="0"/>
          </a:p>
        </p:txBody>
      </p:sp>
      <p:sp>
        <p:nvSpPr>
          <p:cNvPr id="22" name="Shape 0">
            <a:extLst>
              <a:ext uri="{FF2B5EF4-FFF2-40B4-BE49-F238E27FC236}">
                <a16:creationId xmlns:a16="http://schemas.microsoft.com/office/drawing/2014/main" id="{2DC79DD6-AE8C-4F82-9711-BB22C066E04F}"/>
              </a:ext>
            </a:extLst>
          </p:cNvPr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3D4F"/>
          </a:solidFill>
          <a:ln w="12700">
            <a:solidFill>
              <a:srgbClr val="0D3D4F"/>
            </a:solidFill>
            <a:prstDash val="solid"/>
          </a:ln>
        </p:spPr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DDAFA46C-7735-4D1D-9050-38B76D3AF348}"/>
              </a:ext>
            </a:extLst>
          </p:cNvPr>
          <p:cNvSpPr txBox="1"/>
          <p:nvPr/>
        </p:nvSpPr>
        <p:spPr>
          <a:xfrm>
            <a:off x="140882" y="320211"/>
            <a:ext cx="633434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  |  </a:t>
            </a:r>
            <a:r>
              <a:rPr lang="en-US" sz="24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Algorithmes</a:t>
            </a: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de Classification</a:t>
            </a:r>
            <a:endParaRPr lang="en-US" sz="2400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9034A3F0-BC8F-41FA-8FEC-1158FC2C4B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05320" y="2400450"/>
            <a:ext cx="7233304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Pour obtenir le modèle le plus performant possible, nous avons testé automatiquement plein de configurations différentes (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GridSearchCV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). Pour chaque test, nous avons vérifié la solidité du modèle 10 fois sur des sous-groupes de données bien équilibrés (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StratifiedKFold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10-folds), et nous avons gardé la configuration qui offrait le meilleur équilibre de détection globale (F1-score pondéré) </a:t>
            </a:r>
          </a:p>
        </p:txBody>
      </p:sp>
    </p:spTree>
    <p:extLst>
      <p:ext uri="{BB962C8B-B14F-4D97-AF65-F5344CB8AC3E}">
        <p14:creationId xmlns:p14="http://schemas.microsoft.com/office/powerpoint/2010/main" val="30345315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3D4F"/>
          </a:solidFill>
          <a:ln w="12700">
            <a:solidFill>
              <a:srgbClr val="0D3D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  |  Performances Comparatives des Modèles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1097280"/>
            <a:ext cx="2743200" cy="411480"/>
          </a:xfrm>
          <a:prstGeom prst="rect">
            <a:avLst/>
          </a:prstGeom>
          <a:solidFill>
            <a:srgbClr val="0D3D4F"/>
          </a:solidFill>
          <a:ln w="12700">
            <a:solidFill>
              <a:srgbClr val="0D3D4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09728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063240" y="1097280"/>
            <a:ext cx="1645920" cy="411480"/>
          </a:xfrm>
          <a:prstGeom prst="rect">
            <a:avLst/>
          </a:prstGeom>
          <a:solidFill>
            <a:srgbClr val="0D3D4F"/>
          </a:solidFill>
          <a:ln w="12700">
            <a:solidFill>
              <a:srgbClr val="0D3D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154680" y="1097280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1645920" cy="411480"/>
          </a:xfrm>
          <a:prstGeom prst="rect">
            <a:avLst/>
          </a:prstGeom>
          <a:solidFill>
            <a:srgbClr val="0D3D4F"/>
          </a:solidFill>
          <a:ln w="12700">
            <a:solidFill>
              <a:srgbClr val="0D3D4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00600" y="1097280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55080" y="1097280"/>
            <a:ext cx="1645920" cy="411480"/>
          </a:xfrm>
          <a:prstGeom prst="rect">
            <a:avLst/>
          </a:prstGeom>
          <a:solidFill>
            <a:srgbClr val="0D3D4F"/>
          </a:solidFill>
          <a:ln w="12700">
            <a:solidFill>
              <a:srgbClr val="0D3D4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097280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1508760"/>
            <a:ext cx="2743200" cy="475488"/>
          </a:xfrm>
          <a:prstGeom prst="rect">
            <a:avLst/>
          </a:prstGeom>
          <a:solidFill>
            <a:srgbClr val="F0F9FB"/>
          </a:solidFill>
          <a:ln w="9525">
            <a:solidFill>
              <a:srgbClr val="D5E8E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1508760"/>
            <a:ext cx="2606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Régression Log.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063240" y="1508760"/>
            <a:ext cx="1645920" cy="475488"/>
          </a:xfrm>
          <a:prstGeom prst="rect">
            <a:avLst/>
          </a:prstGeom>
          <a:solidFill>
            <a:srgbClr val="F0F9FB"/>
          </a:solidFill>
          <a:ln w="9525">
            <a:solidFill>
              <a:srgbClr val="D5E8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154680" y="1508760"/>
            <a:ext cx="1508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E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77,3%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709160" y="1508760"/>
            <a:ext cx="1645920" cy="475488"/>
          </a:xfrm>
          <a:prstGeom prst="rect">
            <a:avLst/>
          </a:prstGeom>
          <a:solidFill>
            <a:srgbClr val="F0F9FB"/>
          </a:solidFill>
          <a:ln w="9525">
            <a:solidFill>
              <a:srgbClr val="D5E8E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1508760"/>
            <a:ext cx="1508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E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76,9%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355080" y="1508760"/>
            <a:ext cx="1645920" cy="475488"/>
          </a:xfrm>
          <a:prstGeom prst="rect">
            <a:avLst/>
          </a:prstGeom>
          <a:solidFill>
            <a:srgbClr val="F0F9FB"/>
          </a:solidFill>
          <a:ln w="9525">
            <a:solidFill>
              <a:srgbClr val="D5E8E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46520" y="1508760"/>
            <a:ext cx="1508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E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92,3%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20040" y="2011680"/>
            <a:ext cx="27432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5E8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2011680"/>
            <a:ext cx="2606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Arbre de Décision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063240" y="2011680"/>
            <a:ext cx="1645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5E8E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54680" y="2011680"/>
            <a:ext cx="1508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E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85,7%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709160" y="2011680"/>
            <a:ext cx="1645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5E8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00600" y="2011680"/>
            <a:ext cx="1508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E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85,7%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355080" y="2011680"/>
            <a:ext cx="1645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5E8E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46520" y="2011680"/>
            <a:ext cx="1508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E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92,2%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320040" y="2514600"/>
            <a:ext cx="2743200" cy="475488"/>
          </a:xfrm>
          <a:prstGeom prst="rect">
            <a:avLst/>
          </a:prstGeom>
          <a:solidFill>
            <a:srgbClr val="2A9D5C"/>
          </a:solidFill>
          <a:ln w="9525">
            <a:solidFill>
              <a:srgbClr val="D5E8E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1480" y="2514600"/>
            <a:ext cx="2606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Forêt Aléatoire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063240" y="2514600"/>
            <a:ext cx="1645920" cy="475488"/>
          </a:xfrm>
          <a:prstGeom prst="rect">
            <a:avLst/>
          </a:prstGeom>
          <a:solidFill>
            <a:srgbClr val="F0FBF4"/>
          </a:solidFill>
          <a:ln w="9525">
            <a:solidFill>
              <a:srgbClr val="D5E8E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154680" y="2514600"/>
            <a:ext cx="1508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9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93,1%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4709160" y="2514600"/>
            <a:ext cx="1645920" cy="475488"/>
          </a:xfrm>
          <a:prstGeom prst="rect">
            <a:avLst/>
          </a:prstGeom>
          <a:solidFill>
            <a:srgbClr val="F0FBF4"/>
          </a:solidFill>
          <a:ln w="9525">
            <a:solidFill>
              <a:srgbClr val="D5E8E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00600" y="2514600"/>
            <a:ext cx="1508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9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93,1%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355080" y="2514600"/>
            <a:ext cx="1645920" cy="475488"/>
          </a:xfrm>
          <a:prstGeom prst="rect">
            <a:avLst/>
          </a:prstGeom>
          <a:solidFill>
            <a:srgbClr val="F0FBF4"/>
          </a:solidFill>
          <a:ln w="9525">
            <a:solidFill>
              <a:srgbClr val="D5E8E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46520" y="2514600"/>
            <a:ext cx="1508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9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98,2%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20040" y="3017520"/>
            <a:ext cx="27432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5E8E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1480" y="3017520"/>
            <a:ext cx="2606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3063240" y="3017520"/>
            <a:ext cx="1645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5E8E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154680" y="3017520"/>
            <a:ext cx="1508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E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89,2%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4709160" y="3017520"/>
            <a:ext cx="1645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5E8E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00600" y="3017520"/>
            <a:ext cx="1508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E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89,1%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6355080" y="3017520"/>
            <a:ext cx="1645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5E8E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46520" y="3017520"/>
            <a:ext cx="1508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E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97,1%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7772400" y="1097280"/>
            <a:ext cx="1051560" cy="1463040"/>
          </a:xfrm>
          <a:prstGeom prst="roundRect">
            <a:avLst>
              <a:gd name="adj" fmla="val 8696"/>
            </a:avLst>
          </a:prstGeom>
          <a:solidFill>
            <a:srgbClr val="0D3D4F"/>
          </a:solidFill>
          <a:ln w="12700">
            <a:solidFill>
              <a:srgbClr val="0D3D4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7772400" y="123444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8B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0,93</a:t>
            </a:r>
            <a:endParaRPr lang="en-US" sz="2000" dirty="0"/>
          </a:p>
        </p:txBody>
      </p:sp>
      <p:sp>
        <p:nvSpPr>
          <p:cNvPr id="46" name="Text 44"/>
          <p:cNvSpPr/>
          <p:nvPr/>
        </p:nvSpPr>
        <p:spPr>
          <a:xfrm>
            <a:off x="7772400" y="1737360"/>
            <a:ext cx="1051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8D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Forêt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A8D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Aléatoire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A8D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7772400" y="2834640"/>
            <a:ext cx="1051560" cy="1463040"/>
          </a:xfrm>
          <a:prstGeom prst="roundRect">
            <a:avLst>
              <a:gd name="adj" fmla="val 8696"/>
            </a:avLst>
          </a:prstGeom>
          <a:solidFill>
            <a:srgbClr val="0D3D4F"/>
          </a:solidFill>
          <a:ln w="12700">
            <a:solidFill>
              <a:srgbClr val="0D3D4F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7772400" y="297180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8B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0,98</a:t>
            </a:r>
            <a:endParaRPr lang="en-US" sz="2000" dirty="0"/>
          </a:p>
        </p:txBody>
      </p:sp>
      <p:sp>
        <p:nvSpPr>
          <p:cNvPr id="49" name="Text 47"/>
          <p:cNvSpPr/>
          <p:nvPr/>
        </p:nvSpPr>
        <p:spPr>
          <a:xfrm>
            <a:off x="7772400" y="3474720"/>
            <a:ext cx="1051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8D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Forêt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A8D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Aléatoire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A8D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320040" y="3429000"/>
            <a:ext cx="7406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3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F1-score comparatif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320040" y="382219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Rég. Log.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645920" y="3858768"/>
            <a:ext cx="5760720" cy="201168"/>
          </a:xfrm>
          <a:prstGeom prst="rect">
            <a:avLst/>
          </a:prstGeom>
          <a:solidFill>
            <a:srgbClr val="EEF8FA"/>
          </a:solidFill>
          <a:ln w="6350">
            <a:solidFill>
              <a:srgbClr val="CCDDE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645920" y="3858768"/>
            <a:ext cx="4429994" cy="201168"/>
          </a:xfrm>
          <a:prstGeom prst="roundRect">
            <a:avLst>
              <a:gd name="adj" fmla="val 18182"/>
            </a:avLst>
          </a:prstGeom>
          <a:solidFill>
            <a:srgbClr val="1A8CA0"/>
          </a:solidFill>
          <a:ln w="12700">
            <a:solidFill>
              <a:srgbClr val="1A8CA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39922" y="382219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76.9%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320040" y="415137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Arbre Dec.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1645920" y="4187952"/>
            <a:ext cx="5760720" cy="201168"/>
          </a:xfrm>
          <a:prstGeom prst="rect">
            <a:avLst/>
          </a:prstGeom>
          <a:solidFill>
            <a:srgbClr val="EEF8FA"/>
          </a:solidFill>
          <a:ln w="6350">
            <a:solidFill>
              <a:srgbClr val="CCDDE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645920" y="4187952"/>
            <a:ext cx="4936937" cy="201168"/>
          </a:xfrm>
          <a:prstGeom prst="roundRect">
            <a:avLst>
              <a:gd name="adj" fmla="val 18182"/>
            </a:avLst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646865" y="4151376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85.7%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320040" y="448056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Forêt Alé. ★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1645920" y="4517136"/>
            <a:ext cx="5760720" cy="201168"/>
          </a:xfrm>
          <a:prstGeom prst="rect">
            <a:avLst/>
          </a:prstGeom>
          <a:solidFill>
            <a:srgbClr val="EEF8FA"/>
          </a:solidFill>
          <a:ln w="6350">
            <a:solidFill>
              <a:srgbClr val="CCDDEE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645920" y="4517136"/>
            <a:ext cx="5363230" cy="201168"/>
          </a:xfrm>
          <a:prstGeom prst="roundRect">
            <a:avLst>
              <a:gd name="adj" fmla="val 18182"/>
            </a:avLst>
          </a:prstGeom>
          <a:solidFill>
            <a:srgbClr val="2A9D5C"/>
          </a:solidFill>
          <a:ln w="12700">
            <a:solidFill>
              <a:srgbClr val="2A9D5C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073158" y="4480560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A9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93.1%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320040" y="4809744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1645920" y="4846320"/>
            <a:ext cx="5760720" cy="201168"/>
          </a:xfrm>
          <a:prstGeom prst="rect">
            <a:avLst/>
          </a:prstGeom>
          <a:solidFill>
            <a:srgbClr val="EEF8FA"/>
          </a:solidFill>
          <a:ln w="6350">
            <a:solidFill>
              <a:srgbClr val="CCDDEE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645920" y="4846320"/>
            <a:ext cx="5132802" cy="201168"/>
          </a:xfrm>
          <a:prstGeom prst="roundRect">
            <a:avLst>
              <a:gd name="adj" fmla="val 18182"/>
            </a:avLst>
          </a:prstGeom>
          <a:solidFill>
            <a:srgbClr val="C0395A"/>
          </a:solidFill>
          <a:ln w="12700">
            <a:solidFill>
              <a:srgbClr val="C0395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842730" y="4809744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039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89.1%</a:t>
            </a:r>
            <a:endParaRPr lang="en-US" sz="95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3D4F"/>
          </a:solidFill>
          <a:ln w="12700">
            <a:solidFill>
              <a:srgbClr val="0D3D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  |  Importance des Variables — Forêt Aléatoire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316736"/>
            <a:ext cx="347472" cy="347472"/>
          </a:xfrm>
          <a:prstGeom prst="ellipse">
            <a:avLst/>
          </a:prstGeom>
          <a:solidFill>
            <a:srgbClr val="C0395A"/>
          </a:solidFill>
          <a:ln w="12700">
            <a:solidFill>
              <a:srgbClr val="C039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3167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49808" y="123444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200" b="1" dirty="0">
                <a:solidFill>
                  <a:srgbClr val="C039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(Glycémie)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49808" y="1527048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Marqueur clé du diabète gestationnel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971800" y="1344168"/>
            <a:ext cx="4754880" cy="301752"/>
          </a:xfrm>
          <a:prstGeom prst="roundRect">
            <a:avLst>
              <a:gd name="adj" fmla="val 12121"/>
            </a:avLst>
          </a:prstGeom>
          <a:solidFill>
            <a:srgbClr val="EEF8F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71800" y="1344168"/>
            <a:ext cx="4437888" cy="301752"/>
          </a:xfrm>
          <a:prstGeom prst="roundRect">
            <a:avLst>
              <a:gd name="adj" fmla="val 12121"/>
            </a:avLst>
          </a:prstGeom>
          <a:solidFill>
            <a:srgbClr val="C0395A"/>
          </a:solidFill>
          <a:ln w="12700">
            <a:solidFill>
              <a:srgbClr val="C039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01128" y="1325880"/>
            <a:ext cx="457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39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28%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2011680"/>
            <a:ext cx="347472" cy="347472"/>
          </a:xfrm>
          <a:prstGeom prst="ellipse">
            <a:avLst/>
          </a:prstGeom>
          <a:solidFill>
            <a:srgbClr val="1A8CA0"/>
          </a:solidFill>
          <a:ln w="12700">
            <a:solidFill>
              <a:srgbClr val="1A8C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20116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49808" y="1929384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200" b="1" dirty="0">
                <a:solidFill>
                  <a:srgbClr val="1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49808" y="2221992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Synthèse de la pression artérielle (feature ingéniée)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971800" y="2039112"/>
            <a:ext cx="4754880" cy="301752"/>
          </a:xfrm>
          <a:prstGeom prst="roundRect">
            <a:avLst>
              <a:gd name="adj" fmla="val 12121"/>
            </a:avLst>
          </a:prstGeom>
          <a:solidFill>
            <a:srgbClr val="EEF8F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971800" y="2039112"/>
            <a:ext cx="3169920" cy="301752"/>
          </a:xfrm>
          <a:prstGeom prst="roundRect">
            <a:avLst>
              <a:gd name="adj" fmla="val 12121"/>
            </a:avLst>
          </a:prstGeom>
          <a:solidFill>
            <a:srgbClr val="1A8CA0"/>
          </a:solidFill>
          <a:ln w="12700">
            <a:solidFill>
              <a:srgbClr val="1A8CA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33160" y="2020824"/>
            <a:ext cx="457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74320" y="2706624"/>
            <a:ext cx="347472" cy="347472"/>
          </a:xfrm>
          <a:prstGeom prst="ellipse">
            <a:avLst/>
          </a:prstGeom>
          <a:solidFill>
            <a:srgbClr val="115E73"/>
          </a:solidFill>
          <a:ln w="12700">
            <a:solidFill>
              <a:srgbClr val="115E7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2706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49808" y="2624328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200" b="1" dirty="0">
                <a:solidFill>
                  <a:srgbClr val="115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SystolicBP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49808" y="2916936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 d'hypertension artérielle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971800" y="2734056"/>
            <a:ext cx="4754880" cy="301752"/>
          </a:xfrm>
          <a:prstGeom prst="roundRect">
            <a:avLst>
              <a:gd name="adj" fmla="val 12121"/>
            </a:avLst>
          </a:prstGeom>
          <a:solidFill>
            <a:srgbClr val="EEF8F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2734056"/>
            <a:ext cx="2377440" cy="301752"/>
          </a:xfrm>
          <a:prstGeom prst="roundRect">
            <a:avLst>
              <a:gd name="adj" fmla="val 12121"/>
            </a:avLst>
          </a:prstGeom>
          <a:solidFill>
            <a:srgbClr val="115E73"/>
          </a:solidFill>
          <a:ln w="12700">
            <a:solidFill>
              <a:srgbClr val="115E7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40680" y="2715768"/>
            <a:ext cx="457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5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74320" y="3401568"/>
            <a:ext cx="347472" cy="347472"/>
          </a:xfrm>
          <a:prstGeom prst="ellipse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34015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49808" y="331927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2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49808" y="3611880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Facteur de risque chronique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971800" y="3429000"/>
            <a:ext cx="4754880" cy="301752"/>
          </a:xfrm>
          <a:prstGeom prst="roundRect">
            <a:avLst>
              <a:gd name="adj" fmla="val 12121"/>
            </a:avLst>
          </a:prstGeom>
          <a:solidFill>
            <a:srgbClr val="EEF8F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971800" y="3429000"/>
            <a:ext cx="1901952" cy="301752"/>
          </a:xfrm>
          <a:prstGeom prst="roundRect">
            <a:avLst>
              <a:gd name="adj" fmla="val 12121"/>
            </a:avLst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65192" y="3410712"/>
            <a:ext cx="457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74320" y="4096512"/>
            <a:ext cx="347472" cy="347472"/>
          </a:xfrm>
          <a:prstGeom prst="ellipse">
            <a:avLst/>
          </a:prstGeom>
          <a:solidFill>
            <a:srgbClr val="2A9D5C"/>
          </a:solidFill>
          <a:ln w="12700">
            <a:solidFill>
              <a:srgbClr val="2A9D5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" y="40965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49808" y="4014216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200" b="1" dirty="0">
                <a:solidFill>
                  <a:srgbClr val="2A9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PulsePressure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49808" y="4306824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Rigidité artérielle (feature ingéniée ✓)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971800" y="4123944"/>
            <a:ext cx="4754880" cy="301752"/>
          </a:xfrm>
          <a:prstGeom prst="roundRect">
            <a:avLst>
              <a:gd name="adj" fmla="val 12121"/>
            </a:avLst>
          </a:prstGeom>
          <a:solidFill>
            <a:srgbClr val="EEF8F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71800" y="4123944"/>
            <a:ext cx="1426464" cy="301752"/>
          </a:xfrm>
          <a:prstGeom prst="roundRect">
            <a:avLst>
              <a:gd name="adj" fmla="val 12121"/>
            </a:avLst>
          </a:prstGeom>
          <a:solidFill>
            <a:srgbClr val="2A9D5C"/>
          </a:solidFill>
          <a:ln w="12700">
            <a:solidFill>
              <a:srgbClr val="2A9D5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489704" y="4105656"/>
            <a:ext cx="457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A9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9%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274320" y="4480560"/>
            <a:ext cx="8595360" cy="548640"/>
          </a:xfrm>
          <a:prstGeom prst="roundRect">
            <a:avLst>
              <a:gd name="adj" fmla="val 13333"/>
            </a:avLst>
          </a:prstGeom>
          <a:solidFill>
            <a:srgbClr val="F2D0DA"/>
          </a:solidFill>
          <a:ln w="12700">
            <a:solidFill>
              <a:srgbClr val="C0395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7200" y="448056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039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variables ingéniées (MAP, PulsePressure) figurent parmi les plus importantes → valide la pertinence du Feature Engineering ✓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3D4F"/>
          </a:solidFill>
          <a:ln w="12700">
            <a:solidFill>
              <a:srgbClr val="0D3D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  |  Discussion &amp; Analyse Critique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74320" y="10515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9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Points Forts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481328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0FBF5"/>
          </a:solidFill>
          <a:ln w="9525">
            <a:solidFill>
              <a:srgbClr val="2A9D5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600200"/>
            <a:ext cx="256032" cy="256032"/>
          </a:xfrm>
          <a:prstGeom prst="ellipse">
            <a:avLst/>
          </a:prstGeom>
          <a:solidFill>
            <a:srgbClr val="2A9D5C"/>
          </a:solidFill>
          <a:ln w="12700">
            <a:solidFill>
              <a:srgbClr val="2A9D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1490472"/>
            <a:ext cx="363931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Forêt Aléatoire : F1=0,93, AUC=0,98 — performances exceptionnelles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74320" y="2084832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2A9D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2203704"/>
            <a:ext cx="256032" cy="256032"/>
          </a:xfrm>
          <a:prstGeom prst="ellipse">
            <a:avLst/>
          </a:prstGeom>
          <a:solidFill>
            <a:srgbClr val="2A9D5C"/>
          </a:solidFill>
          <a:ln w="12700">
            <a:solidFill>
              <a:srgbClr val="2A9D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093976"/>
            <a:ext cx="363931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Bagging + sélection aléatoire → faible variance sans biais accru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4320" y="2688336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0FBF5"/>
          </a:solidFill>
          <a:ln w="9525">
            <a:solidFill>
              <a:srgbClr val="2A9D5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" y="2807208"/>
            <a:ext cx="256032" cy="256032"/>
          </a:xfrm>
          <a:prstGeom prst="ellipse">
            <a:avLst/>
          </a:prstGeom>
          <a:solidFill>
            <a:srgbClr val="2A9D5C"/>
          </a:solidFill>
          <a:ln w="12700">
            <a:solidFill>
              <a:srgbClr val="2A9D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2697480"/>
            <a:ext cx="363931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SMOTE améliore la détection de la classe minoritaire (high risk)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74320" y="329184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2A9D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3410712"/>
            <a:ext cx="256032" cy="256032"/>
          </a:xfrm>
          <a:prstGeom prst="ellipse">
            <a:avLst/>
          </a:prstGeom>
          <a:solidFill>
            <a:srgbClr val="2A9D5C"/>
          </a:solidFill>
          <a:ln w="12700">
            <a:solidFill>
              <a:srgbClr val="2A9D5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" y="3300984"/>
            <a:ext cx="363931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validé cliniquement (MAP, PulsePressure)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74320" y="3895344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0FBF5"/>
          </a:solidFill>
          <a:ln w="9525">
            <a:solidFill>
              <a:srgbClr val="2A9D5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4014216"/>
            <a:ext cx="256032" cy="256032"/>
          </a:xfrm>
          <a:prstGeom prst="ellipse">
            <a:avLst/>
          </a:prstGeom>
          <a:solidFill>
            <a:srgbClr val="2A9D5C"/>
          </a:solidFill>
          <a:ln w="12700">
            <a:solidFill>
              <a:srgbClr val="2A9D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3904488"/>
            <a:ext cx="363931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 (F1=0,89) solide 2ème position — noyau RBF efficace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754880" y="10515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Limites &amp; Biais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754880" y="1481328"/>
            <a:ext cx="4160520" cy="566928"/>
          </a:xfrm>
          <a:prstGeom prst="roundRect">
            <a:avLst>
              <a:gd name="adj" fmla="val 11290"/>
            </a:avLst>
          </a:prstGeom>
          <a:solidFill>
            <a:srgbClr val="F2D0DA"/>
          </a:solidFill>
          <a:ln w="9525">
            <a:solidFill>
              <a:srgbClr val="C0395A"/>
            </a:solidFill>
            <a:prstDash val="solid"/>
          </a:ln>
        </p:spPr>
      </p:sp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591056"/>
            <a:ext cx="256032" cy="256032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5193792" y="1490472"/>
            <a:ext cx="36393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Biais géographique : données rurales Bangladesh uniquement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4754880" y="2139696"/>
            <a:ext cx="41605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C0395A"/>
            </a:solidFill>
            <a:prstDash val="solid"/>
          </a:ln>
        </p:spPr>
      </p:sp>
      <p:pic>
        <p:nvPicPr>
          <p:cNvPr id="2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249424"/>
            <a:ext cx="256032" cy="256032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5193792" y="2148840"/>
            <a:ext cx="36393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Taille limitée : 1 014 observations — validation externe nécessaire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4754880" y="2798064"/>
            <a:ext cx="4160520" cy="566928"/>
          </a:xfrm>
          <a:prstGeom prst="roundRect">
            <a:avLst>
              <a:gd name="adj" fmla="val 11290"/>
            </a:avLst>
          </a:prstGeom>
          <a:solidFill>
            <a:srgbClr val="F2D0DA"/>
          </a:solidFill>
          <a:ln w="9525">
            <a:solidFill>
              <a:srgbClr val="C0395A"/>
            </a:solidFill>
            <a:prstDash val="solid"/>
          </a:ln>
        </p:spPr>
      </p:sp>
      <p:pic>
        <p:nvPicPr>
          <p:cNvPr id="2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907792"/>
            <a:ext cx="256032" cy="256032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5193792" y="2807208"/>
            <a:ext cx="36393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manquantes : IMC, hémoglobine, antécédents obstetricaux</a:t>
            </a:r>
            <a:endParaRPr lang="en-US" sz="950" dirty="0"/>
          </a:p>
        </p:txBody>
      </p:sp>
      <p:sp>
        <p:nvSpPr>
          <p:cNvPr id="30" name="Shape 25"/>
          <p:cNvSpPr/>
          <p:nvPr/>
        </p:nvSpPr>
        <p:spPr>
          <a:xfrm>
            <a:off x="4754880" y="3456432"/>
            <a:ext cx="41605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C0395A"/>
            </a:solidFill>
            <a:prstDash val="solid"/>
          </a:ln>
        </p:spPr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3566160"/>
            <a:ext cx="256032" cy="256032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5193792" y="3465576"/>
            <a:ext cx="36393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SMOTE → surestimation possible des performances (exemples synthétiques)</a:t>
            </a:r>
            <a:endParaRPr lang="en-US" sz="95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3D4F"/>
          </a:solidFill>
          <a:ln w="12700">
            <a:solidFill>
              <a:srgbClr val="0D3D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  |  Mon Site Web</a:t>
            </a:r>
            <a:endParaRPr lang="en-US" sz="2600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080A1BED-F16A-448D-A8F4-4C88462DE0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114" y="1092150"/>
            <a:ext cx="6426926" cy="2813278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04E95CE4-7086-4706-B031-5E90D0A43C50}"/>
              </a:ext>
            </a:extLst>
          </p:cNvPr>
          <p:cNvSpPr txBox="1"/>
          <p:nvPr/>
        </p:nvSpPr>
        <p:spPr>
          <a:xfrm>
            <a:off x="1323870" y="3996868"/>
            <a:ext cx="45770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i="1" dirty="0">
                <a:latin typeface="Times New Roman" panose="02020603050405020304" pitchFamily="18" charset="0"/>
                <a:cs typeface="Times New Roman" panose="02020603050405020304" pitchFamily="18" charset="0"/>
                <a:hlinkClick r:id="rId4" action="ppaction://hlinkfile"/>
              </a:rPr>
              <a:t>file:///C:/Users/USER/Desktop/maternal-health-risk/index.html</a:t>
            </a:r>
            <a:r>
              <a:rPr lang="fr-FR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-55266"/>
            <a:ext cx="9144000" cy="960120"/>
          </a:xfrm>
          <a:prstGeom prst="rect">
            <a:avLst/>
          </a:prstGeom>
          <a:solidFill>
            <a:srgbClr val="0D3D4F"/>
          </a:solidFill>
          <a:ln w="12700">
            <a:solidFill>
              <a:srgbClr val="0D3D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  |  Mon Site Web</a:t>
            </a:r>
            <a:endParaRPr lang="en-US" sz="26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D1A00BB-4529-4D02-85B4-D48680BC21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77592" y="2571750"/>
            <a:ext cx="5358262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rgbClr val="1F1F1F"/>
              </a:solidFill>
              <a:effectLst/>
              <a:latin typeface="Google Sans Tex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Google Sans Text"/>
                <a:hlinkClick r:id="rId3"/>
              </a:rPr>
              <a:t>https://github.com/22616-arch2DT/maternal-health-risk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43773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3D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0395A"/>
          </a:solidFill>
          <a:ln w="12700">
            <a:solidFill>
              <a:srgbClr val="C0395A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960120" y="18288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  |  Conclusion &amp; Perspectives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274320" y="96012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B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Synthèse</a:t>
            </a:r>
            <a:endParaRPr lang="en-US" sz="13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389888"/>
            <a:ext cx="292608" cy="2926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13232" y="1353312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Forêt Aléatoire = modèle optimal  (F1 = 0,93  |  ROC-AUC = 0,98)</a:t>
            </a:r>
            <a:endParaRPr lang="en-US" sz="105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956816"/>
            <a:ext cx="292608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713232" y="1920240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Glycémie (BS) et Pression artérielle = variables les plus prédictives</a:t>
            </a:r>
            <a:endParaRPr lang="en-US" sz="105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2523744"/>
            <a:ext cx="292608" cy="292608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713232" y="248716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validé — MAP et PulsePressure parmi top 5</a:t>
            </a:r>
            <a:endParaRPr lang="en-US" sz="1050" dirty="0"/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292608" cy="292608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713232" y="3054096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reproductible &amp; rigoureux sur 4 algorithmes représentatifs</a:t>
            </a:r>
            <a:endParaRPr lang="en-US" sz="1050" dirty="0"/>
          </a:p>
        </p:txBody>
      </p:sp>
      <p:sp>
        <p:nvSpPr>
          <p:cNvPr id="15" name="Text 7"/>
          <p:cNvSpPr/>
          <p:nvPr/>
        </p:nvSpPr>
        <p:spPr>
          <a:xfrm>
            <a:off x="5212080" y="96012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B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Perspectives</a:t>
            </a:r>
            <a:endParaRPr lang="en-US" sz="1300" dirty="0"/>
          </a:p>
        </p:txBody>
      </p:sp>
      <p:sp>
        <p:nvSpPr>
          <p:cNvPr id="16" name="Shape 8"/>
          <p:cNvSpPr/>
          <p:nvPr/>
        </p:nvSpPr>
        <p:spPr>
          <a:xfrm>
            <a:off x="4663440" y="1389888"/>
            <a:ext cx="4206240" cy="475488"/>
          </a:xfrm>
          <a:prstGeom prst="roundRect">
            <a:avLst>
              <a:gd name="adj" fmla="val 15385"/>
            </a:avLst>
          </a:prstGeom>
          <a:solidFill>
            <a:srgbClr val="115E73"/>
          </a:solidFill>
          <a:ln w="12700">
            <a:solidFill>
              <a:srgbClr val="1A8CA0"/>
            </a:solidFill>
            <a:prstDash val="solid"/>
          </a:ln>
        </p:spPr>
      </p:sp>
      <p:sp>
        <p:nvSpPr>
          <p:cNvPr id="17" name="Text 9"/>
          <p:cNvSpPr/>
          <p:nvPr/>
        </p:nvSpPr>
        <p:spPr>
          <a:xfrm>
            <a:off x="4754880" y="1389888"/>
            <a:ext cx="4023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XGBoost, LightGBM, CatBoost — gradient boosting</a:t>
            </a:r>
            <a:endParaRPr lang="en-US" sz="1000" dirty="0"/>
          </a:p>
        </p:txBody>
      </p:sp>
      <p:sp>
        <p:nvSpPr>
          <p:cNvPr id="18" name="Shape 10"/>
          <p:cNvSpPr/>
          <p:nvPr/>
        </p:nvSpPr>
        <p:spPr>
          <a:xfrm>
            <a:off x="4663440" y="1956816"/>
            <a:ext cx="4206240" cy="475488"/>
          </a:xfrm>
          <a:prstGeom prst="roundRect">
            <a:avLst>
              <a:gd name="adj" fmla="val 15385"/>
            </a:avLst>
          </a:prstGeom>
          <a:solidFill>
            <a:srgbClr val="115E73"/>
          </a:solidFill>
          <a:ln w="12700">
            <a:solidFill>
              <a:srgbClr val="1A8CA0"/>
            </a:solidFill>
            <a:prstDash val="solid"/>
          </a:ln>
        </p:spPr>
      </p:sp>
      <p:sp>
        <p:nvSpPr>
          <p:cNvPr id="19" name="Text 11"/>
          <p:cNvSpPr/>
          <p:nvPr/>
        </p:nvSpPr>
        <p:spPr>
          <a:xfrm>
            <a:off x="4754880" y="1956816"/>
            <a:ext cx="4023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SHAP pour l'explicabilité locale (XAI)</a:t>
            </a:r>
            <a:endParaRPr lang="en-US" sz="1000" dirty="0"/>
          </a:p>
        </p:txBody>
      </p:sp>
      <p:sp>
        <p:nvSpPr>
          <p:cNvPr id="20" name="Shape 12"/>
          <p:cNvSpPr/>
          <p:nvPr/>
        </p:nvSpPr>
        <p:spPr>
          <a:xfrm>
            <a:off x="4663440" y="2523744"/>
            <a:ext cx="4206240" cy="475488"/>
          </a:xfrm>
          <a:prstGeom prst="roundRect">
            <a:avLst>
              <a:gd name="adj" fmla="val 15385"/>
            </a:avLst>
          </a:prstGeom>
          <a:solidFill>
            <a:srgbClr val="115E73"/>
          </a:solidFill>
          <a:ln w="12700">
            <a:solidFill>
              <a:srgbClr val="1A8CA0"/>
            </a:solidFill>
            <a:prstDash val="solid"/>
          </a:ln>
        </p:spPr>
      </p:sp>
      <p:sp>
        <p:nvSpPr>
          <p:cNvPr id="21" name="Text 13"/>
          <p:cNvSpPr/>
          <p:nvPr/>
        </p:nvSpPr>
        <p:spPr>
          <a:xfrm>
            <a:off x="4754880" y="2523744"/>
            <a:ext cx="4023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Validation externe multi-pays</a:t>
            </a:r>
            <a:endParaRPr lang="en-US" sz="1000" dirty="0"/>
          </a:p>
        </p:txBody>
      </p:sp>
      <p:sp>
        <p:nvSpPr>
          <p:cNvPr id="22" name="Shape 14"/>
          <p:cNvSpPr/>
          <p:nvPr/>
        </p:nvSpPr>
        <p:spPr>
          <a:xfrm>
            <a:off x="4663440" y="3090672"/>
            <a:ext cx="4206240" cy="475488"/>
          </a:xfrm>
          <a:prstGeom prst="roundRect">
            <a:avLst>
              <a:gd name="adj" fmla="val 15385"/>
            </a:avLst>
          </a:prstGeom>
          <a:solidFill>
            <a:srgbClr val="115E73"/>
          </a:solidFill>
          <a:ln w="12700">
            <a:solidFill>
              <a:srgbClr val="1A8CA0"/>
            </a:solidFill>
            <a:prstDash val="solid"/>
          </a:ln>
        </p:spPr>
      </p:sp>
      <p:sp>
        <p:nvSpPr>
          <p:cNvPr id="23" name="Text 15"/>
          <p:cNvSpPr/>
          <p:nvPr/>
        </p:nvSpPr>
        <p:spPr>
          <a:xfrm>
            <a:off x="4754880" y="3090672"/>
            <a:ext cx="4023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Application mobile / API REST pour zones rurales</a:t>
            </a:r>
            <a:endParaRPr lang="en-US" sz="1000" dirty="0"/>
          </a:p>
        </p:txBody>
      </p:sp>
      <p:sp>
        <p:nvSpPr>
          <p:cNvPr id="24" name="Shape 16"/>
          <p:cNvSpPr/>
          <p:nvPr/>
        </p:nvSpPr>
        <p:spPr>
          <a:xfrm>
            <a:off x="4663440" y="3657600"/>
            <a:ext cx="4206240" cy="475488"/>
          </a:xfrm>
          <a:prstGeom prst="roundRect">
            <a:avLst>
              <a:gd name="adj" fmla="val 15385"/>
            </a:avLst>
          </a:prstGeom>
          <a:solidFill>
            <a:srgbClr val="115E73"/>
          </a:solidFill>
          <a:ln w="12700">
            <a:solidFill>
              <a:srgbClr val="1A8CA0"/>
            </a:solidFill>
            <a:prstDash val="solid"/>
          </a:ln>
        </p:spPr>
      </p:sp>
      <p:sp>
        <p:nvSpPr>
          <p:cNvPr id="25" name="Text 17"/>
          <p:cNvSpPr/>
          <p:nvPr/>
        </p:nvSpPr>
        <p:spPr>
          <a:xfrm>
            <a:off x="4754880" y="3657600"/>
            <a:ext cx="4023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Apprentissage fédéré — confidentialité des données</a:t>
            </a:r>
            <a:endParaRPr lang="en-US" sz="1000" dirty="0"/>
          </a:p>
        </p:txBody>
      </p:sp>
      <p:sp>
        <p:nvSpPr>
          <p:cNvPr id="26" name="Shape 18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0395A"/>
          </a:solidFill>
          <a:ln w="12700">
            <a:solidFill>
              <a:srgbClr val="C0395A"/>
            </a:solidFill>
            <a:prstDash val="solid"/>
          </a:ln>
        </p:spPr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3D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0395A"/>
          </a:solidFill>
          <a:ln w="12700">
            <a:solidFill>
              <a:srgbClr val="C039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0395A"/>
          </a:solidFill>
          <a:ln w="12700">
            <a:solidFill>
              <a:srgbClr val="C0395A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0" y="914400"/>
            <a:ext cx="1463040" cy="1463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260604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 de votre attention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2286000" y="3383280"/>
            <a:ext cx="4572000" cy="36576"/>
          </a:xfrm>
          <a:prstGeom prst="rect">
            <a:avLst/>
          </a:prstGeom>
          <a:solidFill>
            <a:srgbClr val="C0395A"/>
          </a:solidFill>
          <a:ln w="12700">
            <a:solidFill>
              <a:srgbClr val="C0395A"/>
            </a:solidFill>
            <a:prstDash val="solid"/>
          </a:ln>
        </p:spPr>
      </p:sp>
    </p:spTree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</TotalTime>
  <Words>964</Words>
  <Application>Microsoft Office PowerPoint</Application>
  <PresentationFormat>Affichage à l'écran (16:9)</PresentationFormat>
  <Paragraphs>217</Paragraphs>
  <Slides>15</Slides>
  <Notes>15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15</vt:i4>
      </vt:variant>
    </vt:vector>
  </HeadingPairs>
  <TitlesOfParts>
    <vt:vector size="23" baseType="lpstr">
      <vt:lpstr>Arial</vt:lpstr>
      <vt:lpstr>Calibri</vt:lpstr>
      <vt:lpstr>Cambria</vt:lpstr>
      <vt:lpstr>Google Sans Text</vt:lpstr>
      <vt:lpstr>Tahoma</vt:lpstr>
      <vt:lpstr>Times New Roman</vt:lpstr>
      <vt:lpstr>Trebuchet MS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de la Santé Maternelle</dc:title>
  <dc:subject>PptxGenJS Presentation</dc:subject>
  <dc:creator>Side Said</dc:creator>
  <cp:lastModifiedBy>seyde mane</cp:lastModifiedBy>
  <cp:revision>11</cp:revision>
  <dcterms:created xsi:type="dcterms:W3CDTF">2026-06-10T23:49:12Z</dcterms:created>
  <dcterms:modified xsi:type="dcterms:W3CDTF">2026-06-13T08:14:19Z</dcterms:modified>
</cp:coreProperties>
</file>