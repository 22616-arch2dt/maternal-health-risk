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70" r:id="rId9"/>
    <p:sldId id="262" r:id="rId10"/>
    <p:sldId id="263" r:id="rId11"/>
    <p:sldId id="264" r:id="rId12"/>
    <p:sldId id="266" r:id="rId13"/>
    <p:sldId id="269" r:id="rId14"/>
    <p:sldId id="265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yde mane" initials="sm" lastIdx="1" clrIdx="0">
    <p:extLst>
      <p:ext uri="{19B8F6BF-5375-455C-9EA6-DF929625EA0E}">
        <p15:presenceInfo xmlns:p15="http://schemas.microsoft.com/office/powerpoint/2012/main" userId="eff2609d05df8fb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2T22:04:25.504" idx="1">
    <p:pos x="10" y="10"/>
    <p:text>Ce sujet est un vrai enjeu de santé publique mondiale. Selon l'OMS, environ 295 000 femmes meurent chaque année de complications liées à la grossesse. La majorité de ces décès survient dans des pays à faibles ressources, où l'accès à des médecins spécialistes est très limité.</p:text>
    <p:extLst>
      <p:ext uri="{C676402C-5697-4E1C-873F-D02D1690AC5C}">
        <p15:threadingInfo xmlns:p15="http://schemas.microsoft.com/office/powerpoint/2012/main" timeZoneBias="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5854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00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1586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22616-arch2dt.github.io/maternal-health-risk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22616-arch2DT/maternal-health-risk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D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-457200"/>
            <a:ext cx="4114800" cy="4114800"/>
          </a:xfrm>
          <a:prstGeom prst="ellipse">
            <a:avLst/>
          </a:prstGeom>
          <a:solidFill>
            <a:srgbClr val="115E73">
              <a:alpha val="40000"/>
            </a:srgbClr>
          </a:solidFill>
          <a:ln w="12700">
            <a:solidFill>
              <a:srgbClr val="115E73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2560320"/>
            <a:ext cx="2743200" cy="2743200"/>
          </a:xfrm>
          <a:prstGeom prst="ellipse">
            <a:avLst/>
          </a:prstGeom>
          <a:solidFill>
            <a:srgbClr val="C0395A">
              <a:alpha val="20000"/>
            </a:srgbClr>
          </a:solidFill>
          <a:ln w="12700">
            <a:solidFill>
              <a:srgbClr val="C0395A">
                <a:alpha val="1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91081" y="710880"/>
            <a:ext cx="3790238" cy="31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de Nouakchott Al-Aasriya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7584" y="154819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de la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47584" y="218313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Santé Maternelle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418984" y="351415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 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Said  |  Matricule C34651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8984" y="38633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Ezyn SEGNANE</a:t>
            </a:r>
            <a:endParaRPr lang="en-US" sz="1200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8D6E4A2F-114F-4FF0-A7AB-56D14280B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54864"/>
            <a:ext cx="3657600" cy="50247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7867A74B-886D-4683-B592-7A7D9587E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7084" y="79369"/>
            <a:ext cx="698232" cy="72237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1148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9050">
            <a:solidFill>
              <a:srgbClr val="A8D8E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84632" y="1463040"/>
            <a:ext cx="502920" cy="502920"/>
          </a:xfrm>
          <a:prstGeom prst="ellipse">
            <a:avLst/>
          </a:prstGeom>
          <a:solidFill>
            <a:srgbClr val="1A8CA0"/>
          </a:solidFill>
          <a:ln w="12700">
            <a:solidFill>
              <a:srgbClr val="1A8C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9848" y="130759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Contexte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170992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Problématique, objectifs, dataset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4688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0F9FB"/>
          </a:solidFill>
          <a:ln w="19050">
            <a:solidFill>
              <a:srgbClr val="A8D8E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" y="2697480"/>
            <a:ext cx="502920" cy="502920"/>
          </a:xfrm>
          <a:prstGeom prst="ellipse">
            <a:avLst/>
          </a:prstGeom>
          <a:solidFill>
            <a:srgbClr val="1A8CA0"/>
          </a:solidFill>
          <a:ln w="12700">
            <a:solidFill>
              <a:srgbClr val="1A8C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848" y="254203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ML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9848" y="29443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SMOTE, Feature Engineering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703320"/>
            <a:ext cx="4114800" cy="1005840"/>
          </a:xfrm>
          <a:prstGeom prst="roundRect">
            <a:avLst>
              <a:gd name="adj" fmla="val 9091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A8D8E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" y="3931920"/>
            <a:ext cx="502920" cy="502920"/>
          </a:xfrm>
          <a:prstGeom prst="ellipse">
            <a:avLst/>
          </a:prstGeom>
          <a:solidFill>
            <a:srgbClr val="1A8CA0"/>
          </a:solidFill>
          <a:ln w="12700">
            <a:solidFill>
              <a:srgbClr val="1A8C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69848" y="37764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69848" y="417880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 comparatives des modèles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4114800" cy="1005840"/>
          </a:xfrm>
          <a:prstGeom prst="roundRect">
            <a:avLst>
              <a:gd name="adj" fmla="val 9091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rgbClr val="A8D8E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9472" y="1463040"/>
            <a:ext cx="502920" cy="502920"/>
          </a:xfrm>
          <a:prstGeom prst="ellipse">
            <a:avLst/>
          </a:prstGeom>
          <a:solidFill>
            <a:srgbClr val="1A8CA0"/>
          </a:solidFill>
          <a:ln w="12700">
            <a:solidFill>
              <a:srgbClr val="1A8C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04688" y="130759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Critique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04688" y="170992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Analyse, limites et biais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4688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0F9FB"/>
          </a:solidFill>
          <a:ln w="19050">
            <a:solidFill>
              <a:srgbClr val="A8D8E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19472" y="2697480"/>
            <a:ext cx="502920" cy="502920"/>
          </a:xfrm>
          <a:prstGeom prst="ellipse">
            <a:avLst/>
          </a:prstGeom>
          <a:solidFill>
            <a:srgbClr val="1A8CA0"/>
          </a:solidFill>
          <a:ln w="12700">
            <a:solidFill>
              <a:srgbClr val="1A8CA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6" name="Text 24"/>
          <p:cNvSpPr/>
          <p:nvPr/>
        </p:nvSpPr>
        <p:spPr>
          <a:xfrm>
            <a:off x="4919472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04688" y="254203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04688" y="29443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5760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2D0DA"/>
          </a:solidFill>
          <a:ln w="19050">
            <a:solidFill>
              <a:srgbClr val="C0395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919472" y="3931920"/>
            <a:ext cx="502920" cy="50292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C0395A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1" name="Text 29"/>
          <p:cNvSpPr/>
          <p:nvPr/>
        </p:nvSpPr>
        <p:spPr>
          <a:xfrm>
            <a:off x="4919472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04688" y="37764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04688" y="417880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000" dirty="0" err="1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|  Introduction &amp; Contexte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234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874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295 000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274320" y="248716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décès maternels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an (OMS 2023)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154680" y="1097280"/>
            <a:ext cx="5669280" cy="713232"/>
          </a:xfrm>
          <a:prstGeom prst="roundRect">
            <a:avLst>
              <a:gd name="adj" fmla="val 10256"/>
            </a:avLst>
          </a:prstGeom>
          <a:solidFill>
            <a:srgbClr val="F0F9FB"/>
          </a:solidFill>
          <a:ln w="12700">
            <a:solidFill>
              <a:srgbClr val="A8D8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73552" y="1234440"/>
            <a:ext cx="320040" cy="320040"/>
          </a:xfrm>
          <a:prstGeom prst="ellipse">
            <a:avLst/>
          </a:prstGeom>
          <a:solidFill>
            <a:srgbClr val="1A8CA0"/>
          </a:solidFill>
          <a:ln w="12700">
            <a:solidFill>
              <a:srgbClr val="1A8C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03320" y="116128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Mortalité maternelle : indicateur de santé publique critique à l'échelle mondiale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54680" y="1938528"/>
            <a:ext cx="5669280" cy="713232"/>
          </a:xfrm>
          <a:prstGeom prst="roundRect">
            <a:avLst>
              <a:gd name="adj" fmla="val 10256"/>
            </a:avLst>
          </a:prstGeom>
          <a:solidFill>
            <a:srgbClr val="F7FCFD"/>
          </a:solidFill>
          <a:ln w="12700">
            <a:solidFill>
              <a:srgbClr val="A8D8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73552" y="2075688"/>
            <a:ext cx="320040" cy="320040"/>
          </a:xfrm>
          <a:prstGeom prst="ellipse">
            <a:avLst/>
          </a:prstGeom>
          <a:solidFill>
            <a:srgbClr val="1A8CA0"/>
          </a:solidFill>
          <a:ln w="12700">
            <a:solidFill>
              <a:srgbClr val="1A8C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03320" y="200253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majorité des décès dans les pays à faibles ressources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54680" y="2779776"/>
            <a:ext cx="5669280" cy="713232"/>
          </a:xfrm>
          <a:prstGeom prst="roundRect">
            <a:avLst>
              <a:gd name="adj" fmla="val 10256"/>
            </a:avLst>
          </a:prstGeom>
          <a:solidFill>
            <a:srgbClr val="F0F9FB"/>
          </a:solidFill>
          <a:ln w="12700">
            <a:solidFill>
              <a:srgbClr val="A8D8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73552" y="2916936"/>
            <a:ext cx="320040" cy="320040"/>
          </a:xfrm>
          <a:prstGeom prst="ellipse">
            <a:avLst/>
          </a:prstGeom>
          <a:solidFill>
            <a:srgbClr val="1A8CA0"/>
          </a:solidFill>
          <a:ln w="12700">
            <a:solidFill>
              <a:srgbClr val="1A8CA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03320" y="2843784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Signaux prédictifs : PA, glycémie, température, FC — expertise clinique manquante en zones rurales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154680" y="3621024"/>
            <a:ext cx="5669280" cy="713232"/>
          </a:xfrm>
          <a:prstGeom prst="roundRect">
            <a:avLst>
              <a:gd name="adj" fmla="val 10256"/>
            </a:avLst>
          </a:prstGeom>
          <a:solidFill>
            <a:srgbClr val="F7FCFD"/>
          </a:solidFill>
          <a:ln w="12700">
            <a:solidFill>
              <a:srgbClr val="A8D8E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73552" y="3758184"/>
            <a:ext cx="320040" cy="320040"/>
          </a:xfrm>
          <a:prstGeom prst="ellipse">
            <a:avLst/>
          </a:prstGeom>
          <a:solidFill>
            <a:srgbClr val="1A8CA0"/>
          </a:solidFill>
          <a:ln w="12700">
            <a:solidFill>
              <a:srgbClr val="1A8C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03320" y="3685032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&amp; apprentissage supervisé : opportunité d'automatiser le triage du risque maternel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C039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Comparer 4 algorithmes ML pour la classification du risque maternel (Low / Mid / High)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|  Description du Jeu de Données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Maternal Health Risk Data Set — UCI Machine Learning Repository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15727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1 014 observations • Hôpitaux ruraux du Bangladesh • Systèmes IoT de surveillance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0040" y="1965960"/>
            <a:ext cx="2011680" cy="384048"/>
          </a:xfrm>
          <a:prstGeom prst="rect">
            <a:avLst/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3192" y="19659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331720" y="1965960"/>
            <a:ext cx="2011680" cy="384048"/>
          </a:xfrm>
          <a:prstGeom prst="rect">
            <a:avLst/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04872" y="19659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1965960"/>
            <a:ext cx="4023360" cy="384048"/>
          </a:xfrm>
          <a:prstGeom prst="rect">
            <a:avLst/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16552" y="19659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2350008"/>
            <a:ext cx="2011680" cy="338328"/>
          </a:xfrm>
          <a:prstGeom prst="rect">
            <a:avLst/>
          </a:prstGeom>
          <a:solidFill>
            <a:srgbClr val="F0F9FB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3192" y="2350008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331720" y="2350008"/>
            <a:ext cx="2011680" cy="338328"/>
          </a:xfrm>
          <a:prstGeom prst="rect">
            <a:avLst/>
          </a:prstGeom>
          <a:solidFill>
            <a:srgbClr val="F0F9FB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04872" y="2350008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70 ans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343400" y="2350008"/>
            <a:ext cx="4023360" cy="338328"/>
          </a:xfrm>
          <a:prstGeom prst="rect">
            <a:avLst/>
          </a:prstGeom>
          <a:solidFill>
            <a:srgbClr val="F0F9FB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16552" y="2350008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de la patiente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2688336"/>
            <a:ext cx="201168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3192" y="2688336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SystolicBP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331720" y="2688336"/>
            <a:ext cx="201168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404872" y="2688336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– 160 mmHg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343400" y="2688336"/>
            <a:ext cx="402336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16552" y="2688336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 artérielle systolique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20040" y="3026664"/>
            <a:ext cx="2011680" cy="338328"/>
          </a:xfrm>
          <a:prstGeom prst="rect">
            <a:avLst/>
          </a:prstGeom>
          <a:solidFill>
            <a:srgbClr val="F0F9FB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93192" y="3026664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DiastolicBP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331720" y="3026664"/>
            <a:ext cx="2011680" cy="338328"/>
          </a:xfrm>
          <a:prstGeom prst="rect">
            <a:avLst/>
          </a:prstGeom>
          <a:solidFill>
            <a:srgbClr val="F0F9FB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404872" y="3026664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– 100 mmHg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343400" y="3026664"/>
            <a:ext cx="4023360" cy="338328"/>
          </a:xfrm>
          <a:prstGeom prst="rect">
            <a:avLst/>
          </a:prstGeom>
          <a:solidFill>
            <a:srgbClr val="F0F9FB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416552" y="3026664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 artérielle diastolique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20040" y="3364992"/>
            <a:ext cx="201168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93192" y="3364992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(Glycémie)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331720" y="3364992"/>
            <a:ext cx="201168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404872" y="3364992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 – 19,0 mmol/L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343400" y="3364992"/>
            <a:ext cx="402336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416552" y="3364992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Sugar — variable clé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20040" y="3703320"/>
            <a:ext cx="2011680" cy="338328"/>
          </a:xfrm>
          <a:prstGeom prst="rect">
            <a:avLst/>
          </a:prstGeom>
          <a:solidFill>
            <a:srgbClr val="F0F9FB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93192" y="3703320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BodyTemp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2331720" y="3703320"/>
            <a:ext cx="2011680" cy="338328"/>
          </a:xfrm>
          <a:prstGeom prst="rect">
            <a:avLst/>
          </a:prstGeom>
          <a:solidFill>
            <a:srgbClr val="F0F9FB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404872" y="3703320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– 103 °F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43400" y="3703320"/>
            <a:ext cx="4023360" cy="338328"/>
          </a:xfrm>
          <a:prstGeom prst="rect">
            <a:avLst/>
          </a:prstGeom>
          <a:solidFill>
            <a:srgbClr val="F0F9FB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416552" y="3703320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corporelle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20040" y="4041648"/>
            <a:ext cx="201168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93192" y="4041648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HeartRate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2331720" y="4041648"/>
            <a:ext cx="201168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404872" y="4041648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– 90 bpm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343400" y="4041648"/>
            <a:ext cx="402336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416552" y="4041648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cardiaque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49224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des classes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492240" y="2377440"/>
            <a:ext cx="23774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2A9D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6565392" y="2532888"/>
            <a:ext cx="310896" cy="310896"/>
          </a:xfrm>
          <a:prstGeom prst="ellipse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949440" y="2414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6949440" y="268833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406 cas  (40%)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6565392" y="2926080"/>
            <a:ext cx="2139696" cy="36576"/>
          </a:xfrm>
          <a:prstGeom prst="rect">
            <a:avLst/>
          </a:prstGeom>
          <a:solidFill>
            <a:srgbClr val="E8F4F7"/>
          </a:solidFill>
          <a:ln w="12700">
            <a:solidFill>
              <a:srgbClr val="E8F4F7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565392" y="2926080"/>
            <a:ext cx="1609344" cy="36576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492240" y="3127248"/>
            <a:ext cx="23774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E8B84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6565392" y="3282696"/>
            <a:ext cx="310896" cy="310896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949440" y="31638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Risk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6949440" y="343814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 cas  (33.1%)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6565392" y="3675888"/>
            <a:ext cx="2139696" cy="36576"/>
          </a:xfrm>
          <a:prstGeom prst="rect">
            <a:avLst/>
          </a:prstGeom>
          <a:solidFill>
            <a:srgbClr val="E8F4F7"/>
          </a:solidFill>
          <a:ln w="12700">
            <a:solidFill>
              <a:srgbClr val="E8F4F7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6565392" y="3675888"/>
            <a:ext cx="1331732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492240" y="3877056"/>
            <a:ext cx="23774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C0395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6565392" y="4032504"/>
            <a:ext cx="310896" cy="310896"/>
          </a:xfrm>
          <a:prstGeom prst="ellipse">
            <a:avLst/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949440" y="39136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6949440" y="41879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272 cas  (26.8%)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6565392" y="4425696"/>
            <a:ext cx="2139696" cy="36576"/>
          </a:xfrm>
          <a:prstGeom prst="rect">
            <a:avLst/>
          </a:prstGeom>
          <a:solidFill>
            <a:srgbClr val="E8F4F7"/>
          </a:solidFill>
          <a:ln w="12700">
            <a:solidFill>
              <a:srgbClr val="E8F4F7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565392" y="4425696"/>
            <a:ext cx="1078260" cy="36576"/>
          </a:xfrm>
          <a:prstGeom prst="rect">
            <a:avLst/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CONTEXTE &amp; ENJEUX</a:t>
            </a:r>
            <a:endParaRPr lang="en-US" sz="2200" dirty="0"/>
          </a:p>
        </p:txBody>
      </p:sp>
      <p:pic>
        <p:nvPicPr>
          <p:cNvPr id="21" name="Picture 20" descr="chart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1868" y="1367707"/>
            <a:ext cx="4023360" cy="3200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</p:pic>
      <p:sp>
        <p:nvSpPr>
          <p:cNvPr id="22" name="Shape 0">
            <a:extLst>
              <a:ext uri="{FF2B5EF4-FFF2-40B4-BE49-F238E27FC236}">
                <a16:creationId xmlns:a16="http://schemas.microsoft.com/office/drawing/2014/main" id="{2DC79DD6-AE8C-4F82-9711-BB22C066E04F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</p:spPr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DAFA46C-7735-4D1D-9050-38B76D3AF348}"/>
              </a:ext>
            </a:extLst>
          </p:cNvPr>
          <p:cNvSpPr txBox="1"/>
          <p:nvPr/>
        </p:nvSpPr>
        <p:spPr>
          <a:xfrm>
            <a:off x="140882" y="320211"/>
            <a:ext cx="6334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|  Description du Jeu de </a:t>
            </a:r>
            <a:r>
              <a:rPr lang="en-US" sz="2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|  Méthodologie — Pipeline ML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280160"/>
            <a:ext cx="1078992" cy="1417320"/>
          </a:xfrm>
          <a:prstGeom prst="roundRect">
            <a:avLst>
              <a:gd name="adj" fmla="val 8475"/>
            </a:avLst>
          </a:prstGeom>
          <a:solidFill>
            <a:srgbClr val="1A8CA0"/>
          </a:solidFill>
          <a:ln w="12700">
            <a:solidFill>
              <a:srgbClr val="1A8CA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35331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472" y="1737360"/>
            <a:ext cx="749808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810512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&amp; EDA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224028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initiale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1828800"/>
            <a:ext cx="128016" cy="12801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426464" y="1280160"/>
            <a:ext cx="1078992" cy="1417320"/>
          </a:xfrm>
          <a:prstGeom prst="roundRect">
            <a:avLst>
              <a:gd name="adj" fmla="val 8475"/>
            </a:avLst>
          </a:prstGeom>
          <a:solidFill>
            <a:srgbClr val="1A8CA0"/>
          </a:solidFill>
          <a:ln w="12700">
            <a:solidFill>
              <a:srgbClr val="1A8CA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426464" y="135331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591056" y="1737360"/>
            <a:ext cx="749808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26464" y="1810512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426464" y="224028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anomalies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828800"/>
            <a:ext cx="128016" cy="12801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670048" y="1280160"/>
            <a:ext cx="1078992" cy="1417320"/>
          </a:xfrm>
          <a:prstGeom prst="roundRect">
            <a:avLst>
              <a:gd name="adj" fmla="val 8475"/>
            </a:avLst>
          </a:prstGeom>
          <a:solidFill>
            <a:srgbClr val="115E73"/>
          </a:solidFill>
          <a:ln w="12700">
            <a:solidFill>
              <a:srgbClr val="115E7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2670048" y="135331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2834640" y="1737360"/>
            <a:ext cx="749808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670048" y="1810512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670048" y="224028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nouvelles variables</a:t>
            </a:r>
            <a:endParaRPr lang="en-US" sz="9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184" y="1828800"/>
            <a:ext cx="128016" cy="128016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913632" y="1280160"/>
            <a:ext cx="1078992" cy="1417320"/>
          </a:xfrm>
          <a:prstGeom prst="roundRect">
            <a:avLst>
              <a:gd name="adj" fmla="val 8475"/>
            </a:avLst>
          </a:prstGeom>
          <a:solidFill>
            <a:srgbClr val="115E73"/>
          </a:solidFill>
          <a:ln w="12700">
            <a:solidFill>
              <a:srgbClr val="115E7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3913632" y="135331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4078224" y="1737360"/>
            <a:ext cx="749808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913632" y="1810512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3913632" y="224028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StandardScaler</a:t>
            </a:r>
            <a:endParaRPr lang="en-US" sz="9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1828800"/>
            <a:ext cx="128016" cy="128016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157216" y="1280160"/>
            <a:ext cx="1078992" cy="1417320"/>
          </a:xfrm>
          <a:prstGeom prst="roundRect">
            <a:avLst>
              <a:gd name="adj" fmla="val 8475"/>
            </a:avLst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5157216" y="135331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Shape 24"/>
          <p:cNvSpPr/>
          <p:nvPr/>
        </p:nvSpPr>
        <p:spPr>
          <a:xfrm>
            <a:off x="5321808" y="1737360"/>
            <a:ext cx="749808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157216" y="1810512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157216" y="224028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Rééquilibrage classes</a:t>
            </a:r>
            <a:endParaRPr lang="en-US" sz="9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828800"/>
            <a:ext cx="128016" cy="128016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6400800" y="1280160"/>
            <a:ext cx="1078992" cy="1417320"/>
          </a:xfrm>
          <a:prstGeom prst="roundRect">
            <a:avLst>
              <a:gd name="adj" fmla="val 8475"/>
            </a:avLst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6400800" y="135331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Shape 29"/>
          <p:cNvSpPr/>
          <p:nvPr/>
        </p:nvSpPr>
        <p:spPr>
          <a:xfrm>
            <a:off x="6565392" y="1737360"/>
            <a:ext cx="749808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400800" y="1810512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6400800" y="224028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hyperparams</a:t>
            </a:r>
            <a:endParaRPr lang="en-US" sz="9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936" y="1828800"/>
            <a:ext cx="128016" cy="128016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7644384" y="1280160"/>
            <a:ext cx="1078992" cy="1417320"/>
          </a:xfrm>
          <a:prstGeom prst="roundRect">
            <a:avLst>
              <a:gd name="adj" fmla="val 8475"/>
            </a:avLst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3"/>
          <p:cNvSpPr/>
          <p:nvPr/>
        </p:nvSpPr>
        <p:spPr>
          <a:xfrm>
            <a:off x="7644384" y="135331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2" name="Shape 34"/>
          <p:cNvSpPr/>
          <p:nvPr/>
        </p:nvSpPr>
        <p:spPr>
          <a:xfrm>
            <a:off x="7808976" y="1737360"/>
            <a:ext cx="749808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7644384" y="1810512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7644384" y="224028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F1, ROC-AUC, Accuracy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274320" y="3017520"/>
            <a:ext cx="8595360" cy="987552"/>
          </a:xfrm>
          <a:prstGeom prst="roundRect">
            <a:avLst>
              <a:gd name="adj" fmla="val 9259"/>
            </a:avLst>
          </a:prstGeom>
          <a:solidFill>
            <a:srgbClr val="F2D0DA"/>
          </a:solidFill>
          <a:ln w="19050">
            <a:solidFill>
              <a:srgbClr val="C0395A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457200" y="3090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— Synthetic Minority Over-sampling Technique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457200" y="33832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d'exemples synthétiques pour les classes minoritaires par interpolation entre voisins proches (k=5). Appliqué uniquement sur le train set pour éviter toute fuite d'information (data leakage).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274320" y="4096512"/>
            <a:ext cx="8595360" cy="841248"/>
          </a:xfrm>
          <a:prstGeom prst="roundRect">
            <a:avLst>
              <a:gd name="adj" fmla="val 10870"/>
            </a:avLst>
          </a:prstGeom>
          <a:solidFill>
            <a:srgbClr val="F0F9FB"/>
          </a:solidFill>
          <a:ln w="19050">
            <a:solidFill>
              <a:srgbClr val="1A8CA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9" name="Text 41"/>
          <p:cNvSpPr/>
          <p:nvPr/>
        </p:nvSpPr>
        <p:spPr>
          <a:xfrm>
            <a:off x="457200" y="41513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(+5 variables) : </a:t>
            </a:r>
            <a:endParaRPr lang="en-US" sz="1100" dirty="0"/>
          </a:p>
        </p:txBody>
      </p:sp>
      <p:sp>
        <p:nvSpPr>
          <p:cNvPr id="50" name="Text 42"/>
          <p:cNvSpPr/>
          <p:nvPr/>
        </p:nvSpPr>
        <p:spPr>
          <a:xfrm>
            <a:off x="457200" y="444398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AgeBin  •  PulsePressure (SBP − DBP)  •  MAP (pression artérielle moyenne)  •  </a:t>
            </a:r>
            <a:r>
              <a:rPr lang="en-US" sz="100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HyperBP_flag</a:t>
            </a: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fr-FR" sz="1000" dirty="0"/>
              <a:t>Indicateur d'hypertension)</a:t>
            </a: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00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HighBS_flag</a:t>
            </a: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fr-FR" sz="1000" dirty="0"/>
              <a:t>Indicateur de glycémie élevée)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|  Algorithmes de Classification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069080" cy="1874520"/>
          </a:xfrm>
          <a:prstGeom prst="roundRect">
            <a:avLst>
              <a:gd name="adj" fmla="val 5854"/>
            </a:avLst>
          </a:prstGeom>
          <a:solidFill>
            <a:srgbClr val="F0F9FB"/>
          </a:solidFill>
          <a:ln w="25400">
            <a:solidFill>
              <a:srgbClr val="1A8CA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344168"/>
            <a:ext cx="640080" cy="640080"/>
          </a:xfrm>
          <a:prstGeom prst="ellipse">
            <a:avLst/>
          </a:prstGeom>
          <a:solidFill>
            <a:srgbClr val="1A8CA0"/>
          </a:solidFill>
          <a:ln w="12700">
            <a:solidFill>
              <a:srgbClr val="1A8C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344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30759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8C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 Logistique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562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linéaire probabiliste — baseline interprétable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441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Hyperparams : C ∈ {0,01–100}, solver, penalty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143000"/>
            <a:ext cx="4069080" cy="1874520"/>
          </a:xfrm>
          <a:prstGeom prst="roundRect">
            <a:avLst>
              <a:gd name="adj" fmla="val 5854"/>
            </a:avLst>
          </a:prstGeom>
          <a:solidFill>
            <a:srgbClr val="FFFDF0"/>
          </a:solidFill>
          <a:ln w="25400">
            <a:solidFill>
              <a:srgbClr val="E8B84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1344168"/>
            <a:ext cx="640080" cy="64008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344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30759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Arbre de Décision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8562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récursive de l'espace de features, très interprétable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0" y="2441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Hyperparams : max_depth, min_samples_split, gini/entropy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246120"/>
            <a:ext cx="4069080" cy="1874520"/>
          </a:xfrm>
          <a:prstGeom prst="roundRect">
            <a:avLst>
              <a:gd name="adj" fmla="val 5854"/>
            </a:avLst>
          </a:prstGeom>
          <a:solidFill>
            <a:srgbClr val="F0FBF5"/>
          </a:solidFill>
          <a:ln w="25400">
            <a:solidFill>
              <a:srgbClr val="2A9D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" y="3447288"/>
            <a:ext cx="640080" cy="640080"/>
          </a:xfrm>
          <a:prstGeom prst="ellipse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447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88720" y="341071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Forêt Aléatoire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95935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de 100–300 arbres. Bagging + sélection aléatoire de features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5445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Hyperparams : n_estimators, max_depth, max_features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3246120"/>
            <a:ext cx="4069080" cy="1874520"/>
          </a:xfrm>
          <a:prstGeom prst="roundRect">
            <a:avLst>
              <a:gd name="adj" fmla="val 5854"/>
            </a:avLst>
          </a:prstGeom>
          <a:solidFill>
            <a:srgbClr val="FFF0F3"/>
          </a:solidFill>
          <a:ln w="25400">
            <a:solidFill>
              <a:srgbClr val="C0395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3447288"/>
            <a:ext cx="640080" cy="640080"/>
          </a:xfrm>
          <a:prstGeom prst="ellipse">
            <a:avLst/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3447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0" y="341071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395935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Maximisation de la marge, noyaux RBF/linéaire/polynomial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45445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Hyperparams : C ∈ {0,1–100}, kernel, gamma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CONTEXTE &amp; ENJEUX</a:t>
            </a:r>
            <a:endParaRPr lang="en-US" sz="2200" dirty="0"/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2DC79DD6-AE8C-4F82-9711-BB22C066E04F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</p:spPr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DAFA46C-7735-4D1D-9050-38B76D3AF348}"/>
              </a:ext>
            </a:extLst>
          </p:cNvPr>
          <p:cNvSpPr txBox="1"/>
          <p:nvPr/>
        </p:nvSpPr>
        <p:spPr>
          <a:xfrm>
            <a:off x="140882" y="320211"/>
            <a:ext cx="6334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|  </a:t>
            </a:r>
            <a:r>
              <a:rPr lang="en-US" sz="2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Algorithmes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Classification</a:t>
            </a:r>
            <a:endParaRPr lang="en-US" sz="24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034A3F0-BC8F-41FA-8FEC-1158FC2C4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5320" y="2400450"/>
            <a:ext cx="723330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Pour obtenir le modèle le plus performant possible, nous avons testé automatiquement plein de configurations différentes (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GridSearchCV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 Pour chaque test, nous avons vérifié la solidité du modèle 10 fois sur des sous-groupes de données bien équilibrés (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StratifiedKFold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10-folds), et nous avons gardé la configuration qui offrait le meilleur équilibre de détection globale (F1-score pondéré) </a:t>
            </a:r>
          </a:p>
        </p:txBody>
      </p:sp>
    </p:spTree>
    <p:extLst>
      <p:ext uri="{BB962C8B-B14F-4D97-AF65-F5344CB8AC3E}">
        <p14:creationId xmlns:p14="http://schemas.microsoft.com/office/powerpoint/2010/main" val="3034531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|  Performances Comparatives des Modèles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411480"/>
          </a:xfrm>
          <a:prstGeom prst="rect">
            <a:avLst/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63240" y="1097280"/>
            <a:ext cx="1645920" cy="411480"/>
          </a:xfrm>
          <a:prstGeom prst="rect">
            <a:avLst/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10972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1645920" cy="411480"/>
          </a:xfrm>
          <a:prstGeom prst="rect">
            <a:avLst/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972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1097280"/>
            <a:ext cx="1645920" cy="411480"/>
          </a:xfrm>
          <a:prstGeom prst="rect">
            <a:avLst/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0972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508760"/>
            <a:ext cx="2743200" cy="475488"/>
          </a:xfrm>
          <a:prstGeom prst="rect">
            <a:avLst/>
          </a:prstGeom>
          <a:solidFill>
            <a:srgbClr val="F0F9FB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50876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63240" y="1508760"/>
            <a:ext cx="1645920" cy="475488"/>
          </a:xfrm>
          <a:prstGeom prst="rect">
            <a:avLst/>
          </a:prstGeom>
          <a:solidFill>
            <a:srgbClr val="F0F9FB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50876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77,3%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1508760"/>
            <a:ext cx="1645920" cy="475488"/>
          </a:xfrm>
          <a:prstGeom prst="rect">
            <a:avLst/>
          </a:prstGeom>
          <a:solidFill>
            <a:srgbClr val="F0F9FB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50876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76,9%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1508760"/>
            <a:ext cx="1645920" cy="475488"/>
          </a:xfrm>
          <a:prstGeom prst="rect">
            <a:avLst/>
          </a:prstGeom>
          <a:solidFill>
            <a:srgbClr val="F0F9FB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50876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92,3%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2011680"/>
            <a:ext cx="2743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01168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 Décision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63240" y="2011680"/>
            <a:ext cx="1645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201168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85,7%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09160" y="2011680"/>
            <a:ext cx="1645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01168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85,7%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55080" y="2011680"/>
            <a:ext cx="1645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201168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92,2%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0040" y="2514600"/>
            <a:ext cx="2743200" cy="475488"/>
          </a:xfrm>
          <a:prstGeom prst="rect">
            <a:avLst/>
          </a:prstGeom>
          <a:solidFill>
            <a:srgbClr val="2A9D5C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51460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Forêt Aléatoire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063240" y="2514600"/>
            <a:ext cx="1645920" cy="475488"/>
          </a:xfrm>
          <a:prstGeom prst="rect">
            <a:avLst/>
          </a:prstGeom>
          <a:solidFill>
            <a:srgbClr val="F0FBF4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54680" y="251460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93,1%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09160" y="2514600"/>
            <a:ext cx="1645920" cy="475488"/>
          </a:xfrm>
          <a:prstGeom prst="rect">
            <a:avLst/>
          </a:prstGeom>
          <a:solidFill>
            <a:srgbClr val="F0FBF4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51460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93,1%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355080" y="2514600"/>
            <a:ext cx="1645920" cy="475488"/>
          </a:xfrm>
          <a:prstGeom prst="rect">
            <a:avLst/>
          </a:prstGeom>
          <a:solidFill>
            <a:srgbClr val="F0FBF4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251460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98,2%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20040" y="3017520"/>
            <a:ext cx="2743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01752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63240" y="3017520"/>
            <a:ext cx="1645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54680" y="301752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89,2%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709160" y="3017520"/>
            <a:ext cx="1645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01752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89,1%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355080" y="3017520"/>
            <a:ext cx="1645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E8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301752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97,1%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772400" y="1097280"/>
            <a:ext cx="1051560" cy="1463040"/>
          </a:xfrm>
          <a:prstGeom prst="roundRect">
            <a:avLst>
              <a:gd name="adj" fmla="val 8696"/>
            </a:avLst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772400" y="12344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0,93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7772400" y="173736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Forêt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Aléatoire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772400" y="2834640"/>
            <a:ext cx="1051560" cy="1463040"/>
          </a:xfrm>
          <a:prstGeom prst="roundRect">
            <a:avLst>
              <a:gd name="adj" fmla="val 8696"/>
            </a:avLst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772400" y="29718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0,98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7772400" y="347472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Forêt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Aléatoire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20040" y="342900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 comparatif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20040" y="38221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Rég. Log.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645920" y="3858768"/>
            <a:ext cx="5760720" cy="201168"/>
          </a:xfrm>
          <a:prstGeom prst="rect">
            <a:avLst/>
          </a:prstGeom>
          <a:solidFill>
            <a:srgbClr val="EEF8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45920" y="3858768"/>
            <a:ext cx="4429994" cy="201168"/>
          </a:xfrm>
          <a:prstGeom prst="roundRect">
            <a:avLst>
              <a:gd name="adj" fmla="val 18182"/>
            </a:avLst>
          </a:prstGeom>
          <a:solidFill>
            <a:srgbClr val="1A8CA0"/>
          </a:solidFill>
          <a:ln w="12700">
            <a:solidFill>
              <a:srgbClr val="1A8C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39922" y="382219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76.9%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20040" y="41513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Dec.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645920" y="4187952"/>
            <a:ext cx="5760720" cy="201168"/>
          </a:xfrm>
          <a:prstGeom prst="rect">
            <a:avLst/>
          </a:prstGeom>
          <a:solidFill>
            <a:srgbClr val="EEF8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645920" y="4187952"/>
            <a:ext cx="4936937" cy="201168"/>
          </a:xfrm>
          <a:prstGeom prst="roundRect">
            <a:avLst>
              <a:gd name="adj" fmla="val 18182"/>
            </a:avLst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46865" y="4151376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85.7%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20040" y="4480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Forêt Alé. ★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645920" y="4517136"/>
            <a:ext cx="5760720" cy="201168"/>
          </a:xfrm>
          <a:prstGeom prst="rect">
            <a:avLst/>
          </a:prstGeom>
          <a:solidFill>
            <a:srgbClr val="EEF8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45920" y="4517136"/>
            <a:ext cx="5363230" cy="201168"/>
          </a:xfrm>
          <a:prstGeom prst="roundRect">
            <a:avLst>
              <a:gd name="adj" fmla="val 18182"/>
            </a:avLst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73158" y="44805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93.1%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20040" y="48097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645920" y="4846320"/>
            <a:ext cx="5760720" cy="201168"/>
          </a:xfrm>
          <a:prstGeom prst="rect">
            <a:avLst/>
          </a:prstGeom>
          <a:solidFill>
            <a:srgbClr val="EEF8FA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645920" y="4846320"/>
            <a:ext cx="5132802" cy="201168"/>
          </a:xfrm>
          <a:prstGeom prst="roundRect">
            <a:avLst>
              <a:gd name="adj" fmla="val 18182"/>
            </a:avLst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42730" y="480974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89.1%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|  Importance des Variables — Forêt Aléatoire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316736"/>
            <a:ext cx="347472" cy="347472"/>
          </a:xfrm>
          <a:prstGeom prst="ellipse">
            <a:avLst/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234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C0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(Glycémie)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527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Marqueur clé du diabète gestationnel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71800" y="1344168"/>
            <a:ext cx="4754880" cy="301752"/>
          </a:xfrm>
          <a:prstGeom prst="roundRect">
            <a:avLst>
              <a:gd name="adj" fmla="val 12121"/>
            </a:avLst>
          </a:prstGeom>
          <a:solidFill>
            <a:srgbClr val="EEF8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1344168"/>
            <a:ext cx="4437888" cy="301752"/>
          </a:xfrm>
          <a:prstGeom prst="roundRect">
            <a:avLst>
              <a:gd name="adj" fmla="val 12121"/>
            </a:avLst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01128" y="1325880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347472" cy="347472"/>
          </a:xfrm>
          <a:prstGeom prst="ellipse">
            <a:avLst/>
          </a:prstGeom>
          <a:solidFill>
            <a:srgbClr val="1A8CA0"/>
          </a:solidFill>
          <a:ln w="12700">
            <a:solidFill>
              <a:srgbClr val="1A8C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19293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22219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 la pression artérielle (feature ingéniée)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71800" y="2039112"/>
            <a:ext cx="4754880" cy="301752"/>
          </a:xfrm>
          <a:prstGeom prst="roundRect">
            <a:avLst>
              <a:gd name="adj" fmla="val 12121"/>
            </a:avLst>
          </a:prstGeom>
          <a:solidFill>
            <a:srgbClr val="EEF8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71800" y="2039112"/>
            <a:ext cx="3169920" cy="301752"/>
          </a:xfrm>
          <a:prstGeom prst="roundRect">
            <a:avLst>
              <a:gd name="adj" fmla="val 12121"/>
            </a:avLst>
          </a:prstGeom>
          <a:solidFill>
            <a:srgbClr val="1A8CA0"/>
          </a:solidFill>
          <a:ln w="12700">
            <a:solidFill>
              <a:srgbClr val="1A8C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3160" y="2020824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706624"/>
            <a:ext cx="347472" cy="347472"/>
          </a:xfrm>
          <a:prstGeom prst="ellipse">
            <a:avLst/>
          </a:prstGeom>
          <a:solidFill>
            <a:srgbClr val="115E73"/>
          </a:solidFill>
          <a:ln w="12700">
            <a:solidFill>
              <a:srgbClr val="115E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" y="26243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15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SystolicBP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29169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d'hypertension artérielle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71800" y="2734056"/>
            <a:ext cx="4754880" cy="301752"/>
          </a:xfrm>
          <a:prstGeom prst="roundRect">
            <a:avLst>
              <a:gd name="adj" fmla="val 12121"/>
            </a:avLst>
          </a:prstGeom>
          <a:solidFill>
            <a:srgbClr val="EEF8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2734056"/>
            <a:ext cx="2377440" cy="301752"/>
          </a:xfrm>
          <a:prstGeom prst="roundRect">
            <a:avLst>
              <a:gd name="adj" fmla="val 12121"/>
            </a:avLst>
          </a:prstGeom>
          <a:solidFill>
            <a:srgbClr val="115E73"/>
          </a:solidFill>
          <a:ln w="12700">
            <a:solidFill>
              <a:srgbClr val="115E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2715768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5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401568"/>
            <a:ext cx="347472" cy="347472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" y="33192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" y="3611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 de risque chronique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971800" y="3429000"/>
            <a:ext cx="4754880" cy="301752"/>
          </a:xfrm>
          <a:prstGeom prst="roundRect">
            <a:avLst>
              <a:gd name="adj" fmla="val 12121"/>
            </a:avLst>
          </a:prstGeom>
          <a:solidFill>
            <a:srgbClr val="EEF8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71800" y="3429000"/>
            <a:ext cx="1901952" cy="301752"/>
          </a:xfrm>
          <a:prstGeom prst="roundRect">
            <a:avLst>
              <a:gd name="adj" fmla="val 12121"/>
            </a:avLst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5192" y="341071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096512"/>
            <a:ext cx="347472" cy="347472"/>
          </a:xfrm>
          <a:prstGeom prst="ellipse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9808" y="40142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PulsePressure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9808" y="43068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Rigidité artérielle (feature ingéniée ✓)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971800" y="4123944"/>
            <a:ext cx="4754880" cy="301752"/>
          </a:xfrm>
          <a:prstGeom prst="roundRect">
            <a:avLst>
              <a:gd name="adj" fmla="val 12121"/>
            </a:avLst>
          </a:prstGeom>
          <a:solidFill>
            <a:srgbClr val="EEF8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71800" y="4123944"/>
            <a:ext cx="1426464" cy="301752"/>
          </a:xfrm>
          <a:prstGeom prst="roundRect">
            <a:avLst>
              <a:gd name="adj" fmla="val 12121"/>
            </a:avLst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9704" y="4105656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448056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F2D0DA"/>
          </a:solidFill>
          <a:ln w="12700">
            <a:solidFill>
              <a:srgbClr val="C039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4805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variables ingéniées (MAP, PulsePressure) figurent parmi les plus importantes → valide la pertinence du Feature Engineering ✓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|  Discussion &amp; Analyse Critique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Forts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81328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0FBF5"/>
          </a:solidFill>
          <a:ln w="9525">
            <a:solidFill>
              <a:srgbClr val="2A9D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00200"/>
            <a:ext cx="256032" cy="256032"/>
          </a:xfrm>
          <a:prstGeom prst="ellipse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90472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Forêt Aléatoire : F1=0,93, AUC=0,98 — performances exceptionnelles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084832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2A9D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03704"/>
            <a:ext cx="256032" cy="256032"/>
          </a:xfrm>
          <a:prstGeom prst="ellipse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093976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+ sélection aléatoire → faible variance sans biais accru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688336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0FBF5"/>
          </a:solidFill>
          <a:ln w="9525">
            <a:solidFill>
              <a:srgbClr val="2A9D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07208"/>
            <a:ext cx="256032" cy="256032"/>
          </a:xfrm>
          <a:prstGeom prst="ellipse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697480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améliore la détection de la classe minoritaire (high risk)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291840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2A9D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410712"/>
            <a:ext cx="256032" cy="256032"/>
          </a:xfrm>
          <a:prstGeom prst="ellipse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300984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validé cliniquement (MAP, PulsePressure)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895344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0FBF5"/>
          </a:solidFill>
          <a:ln w="9525">
            <a:solidFill>
              <a:srgbClr val="2A9D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014216"/>
            <a:ext cx="256032" cy="256032"/>
          </a:xfrm>
          <a:prstGeom prst="ellipse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904488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(F1=0,89) solide 2ème position — noyau RBF efficace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&amp; Biais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481328"/>
            <a:ext cx="4160520" cy="566928"/>
          </a:xfrm>
          <a:prstGeom prst="roundRect">
            <a:avLst>
              <a:gd name="adj" fmla="val 11290"/>
            </a:avLst>
          </a:prstGeom>
          <a:solidFill>
            <a:srgbClr val="F2D0DA"/>
          </a:solidFill>
          <a:ln w="9525">
            <a:solidFill>
              <a:srgbClr val="C0395A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591056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193792" y="1490472"/>
            <a:ext cx="3639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géographique : données rurales Bangladesh uniquement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754880" y="2139696"/>
            <a:ext cx="41605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C0395A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249424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193792" y="2148840"/>
            <a:ext cx="3639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limitée : 1 014 observations — validation externe nécessaire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754880" y="2798064"/>
            <a:ext cx="4160520" cy="566928"/>
          </a:xfrm>
          <a:prstGeom prst="roundRect">
            <a:avLst>
              <a:gd name="adj" fmla="val 11290"/>
            </a:avLst>
          </a:prstGeom>
          <a:solidFill>
            <a:srgbClr val="F2D0DA"/>
          </a:solidFill>
          <a:ln w="9525">
            <a:solidFill>
              <a:srgbClr val="C0395A"/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907792"/>
            <a:ext cx="256032" cy="25603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193792" y="2807208"/>
            <a:ext cx="3639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manquantes : IMC, hémoglobine, antécédents obstetricaux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4754880" y="3456432"/>
            <a:ext cx="41605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C0395A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566160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193792" y="3465576"/>
            <a:ext cx="3639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→ surestimation possible des performances (exemples synthétiques)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|  Mon Site Web</a:t>
            </a:r>
            <a:endParaRPr lang="en-US" sz="26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80A1BED-F16A-448D-A8F4-4C88462DE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14" y="1092150"/>
            <a:ext cx="6426926" cy="2813278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04E95CE4-7086-4706-B031-5E90D0A43C50}"/>
              </a:ext>
            </a:extLst>
          </p:cNvPr>
          <p:cNvSpPr txBox="1"/>
          <p:nvPr/>
        </p:nvSpPr>
        <p:spPr>
          <a:xfrm>
            <a:off x="1323870" y="3996868"/>
            <a:ext cx="45770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i="0" u="sng" dirty="0">
                <a:solidFill>
                  <a:srgbClr val="0969DA"/>
                </a:solidFill>
                <a:effectLst/>
                <a:latin typeface="Mona Sans VF"/>
                <a:hlinkClick r:id="rId4"/>
              </a:rPr>
              <a:t>https://22616-arch2dt.github.io/maternal-health-risk/</a:t>
            </a:r>
            <a:endParaRPr lang="fr-FR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55266"/>
            <a:ext cx="9144000" cy="960120"/>
          </a:xfrm>
          <a:prstGeom prst="rect">
            <a:avLst/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|  Mon Site Web</a:t>
            </a:r>
            <a:endParaRPr lang="en-US" sz="2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1A00BB-4529-4D02-85B4-D48680BC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7592" y="2571750"/>
            <a:ext cx="5358262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  <a:hlinkClick r:id="rId3"/>
              </a:rPr>
              <a:t>https://github.com/22616-arch2DT/maternal-health-risk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377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3D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60120" y="1828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|  Conclusion &amp; Perspectives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27432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89888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3232" y="135331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Forêt Aléatoire = modèle optimal  (F1 = 0,93  |  ROC-AUC = 0,98)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956816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3232" y="19202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Glycémie (BS) et Pression artérielle = variables les plus prédictives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23744"/>
            <a:ext cx="292608" cy="292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3232" y="24871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validé — MAP et PulsePressure parmi top 5</a:t>
            </a:r>
            <a:endParaRPr lang="en-US" sz="10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292608" cy="2926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13232" y="305409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reproductible &amp; rigoureux sur 4 algorithmes représentatifs</a:t>
            </a:r>
            <a:endParaRPr lang="en-US" sz="1050" dirty="0"/>
          </a:p>
        </p:txBody>
      </p:sp>
      <p:sp>
        <p:nvSpPr>
          <p:cNvPr id="15" name="Text 7"/>
          <p:cNvSpPr/>
          <p:nvPr/>
        </p:nvSpPr>
        <p:spPr>
          <a:xfrm>
            <a:off x="5212080" y="960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1300" dirty="0"/>
          </a:p>
        </p:txBody>
      </p:sp>
      <p:sp>
        <p:nvSpPr>
          <p:cNvPr id="16" name="Shape 8"/>
          <p:cNvSpPr/>
          <p:nvPr/>
        </p:nvSpPr>
        <p:spPr>
          <a:xfrm>
            <a:off x="4663440" y="1389888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115E73"/>
          </a:solidFill>
          <a:ln w="12700">
            <a:solidFill>
              <a:srgbClr val="1A8CA0"/>
            </a:solidFill>
            <a:prstDash val="solid"/>
          </a:ln>
        </p:spPr>
      </p:sp>
      <p:sp>
        <p:nvSpPr>
          <p:cNvPr id="17" name="Text 9"/>
          <p:cNvSpPr/>
          <p:nvPr/>
        </p:nvSpPr>
        <p:spPr>
          <a:xfrm>
            <a:off x="4754880" y="138988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XGBoost, LightGBM, CatBoost — gradient boosting</a:t>
            </a:r>
            <a:endParaRPr lang="en-US" sz="1000" dirty="0"/>
          </a:p>
        </p:txBody>
      </p:sp>
      <p:sp>
        <p:nvSpPr>
          <p:cNvPr id="18" name="Shape 10"/>
          <p:cNvSpPr/>
          <p:nvPr/>
        </p:nvSpPr>
        <p:spPr>
          <a:xfrm>
            <a:off x="4663440" y="1956816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115E73"/>
          </a:solidFill>
          <a:ln w="12700">
            <a:solidFill>
              <a:srgbClr val="1A8CA0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4754880" y="195681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SHAP pour l'explicabilité locale (XAI)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4663440" y="2523744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115E73"/>
          </a:solidFill>
          <a:ln w="12700">
            <a:solidFill>
              <a:srgbClr val="1A8CA0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4754880" y="252374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Validation externe multi-pays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4663440" y="3090672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115E73"/>
          </a:solidFill>
          <a:ln w="12700">
            <a:solidFill>
              <a:srgbClr val="1A8CA0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4754880" y="309067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Application mobile / API REST pour zones rurales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4663440" y="3657600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115E73"/>
          </a:solidFill>
          <a:ln w="12700">
            <a:solidFill>
              <a:srgbClr val="1A8CA0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4754880" y="365760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Apprentissage fédéré — confidentialité des données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3D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91440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606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2286000" y="3383280"/>
            <a:ext cx="4572000" cy="36576"/>
          </a:xfrm>
          <a:prstGeom prst="rect">
            <a:avLst/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</p:spPr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959</Words>
  <Application>Microsoft Office PowerPoint</Application>
  <PresentationFormat>Affichage à l'écran (16:9)</PresentationFormat>
  <Paragraphs>217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Cambria</vt:lpstr>
      <vt:lpstr>Google Sans Text</vt:lpstr>
      <vt:lpstr>Mona Sans VF</vt:lpstr>
      <vt:lpstr>Tahoma</vt:lpstr>
      <vt:lpstr>Times New Roman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Diagnostic de la Santé Maternelle</dc:title>
  <dc:subject>PptxGenJS Presentation</dc:subject>
  <dc:creator>Side Said</dc:creator>
  <cp:lastModifiedBy>seyde mane</cp:lastModifiedBy>
  <cp:revision>12</cp:revision>
  <dcterms:created xsi:type="dcterms:W3CDTF">2026-06-10T23:49:12Z</dcterms:created>
  <dcterms:modified xsi:type="dcterms:W3CDTF">2026-06-13T14:52:05Z</dcterms:modified>
</cp:coreProperties>
</file>